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hospitalsmagazine.com/1e53fe59ab3225ed40d2cfaf56a293ea5b52980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0758" b="307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Text 2"/>
          <p:cNvSpPr/>
          <p:nvPr/>
        </p:nvSpPr>
        <p:spPr>
          <a:xfrm>
            <a:off x="1104900" y="38100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 6306 – Supervised Machine Learning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6686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Reducing False Negatives 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Breast Cancer Diagnosis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2242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490913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Comparative Analysis of Hybrid ML Frameworks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138613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Phase III (SMOTE + Cost-Sensitive XGBoost) to Phase IV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(Feature Selection + ADASYN + Cost-Sensitive XGBoost)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981700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Dr. Ayman Maliha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Computer Engineering – IUG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429006" y="57150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Ashraf Suhail Ahmed Al-Kahlout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29006" y="59817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Baraa Maher Shaaban AlDeeb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29006" y="62484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Mahmoud Waleed Al-Sheikh Khalil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3850" y="1371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4097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7145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Imbalanced Data Problem in Medical Diagnosis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8400" y="137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91250" y="1371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0" y="14097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4200" y="17145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Foundation &amp; Problem Formulation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314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3850" y="23145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2352675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Framework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2657475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+ Cost-Sensitive XGBoost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8400" y="2314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91250" y="23145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2352675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Limitations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4200" y="2657475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Analysis of Identified Issues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257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3850" y="3257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800" y="329565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 Framework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" y="36004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Architecture with Feature Selection + ADASYN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48400" y="3257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191250" y="3257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4200" y="329565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 Mathematics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0" y="36004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Synthetic Sampling Formulation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200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23850" y="42005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6800" y="4238625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 Math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6800" y="4543425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ANOVA F-Statistic &amp; Cost-Sensitive Learning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48400" y="42005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191250" y="42005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200" y="4238625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Results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0" y="4543425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vs Phase IV Performance Analysis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14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3850" y="514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6800" y="5181600"/>
            <a:ext cx="1083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Impact &amp; Conclusions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6800" y="548640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and Future Directions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6248400"/>
            <a:ext cx="799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emphasizes mathematical foundations and comparative analysis between Phase III and Phase IV 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Problem 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Imbalanced Data Problem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581650" cy="2038350"/>
          </a:xfrm>
          <a:custGeom>
            <a:avLst/>
            <a:gdLst/>
            <a:ahLst/>
            <a:cxnLst/>
            <a:rect l="l" t="t" r="r" b="b"/>
            <a:pathLst>
              <a:path w="5581650" h="2038350">
                <a:moveTo>
                  <a:pt x="0" y="0"/>
                </a:moveTo>
                <a:lnTo>
                  <a:pt x="5505456" y="0"/>
                </a:lnTo>
                <a:cubicBezTo>
                  <a:pt x="5547537" y="0"/>
                  <a:pt x="5581650" y="34113"/>
                  <a:pt x="5581650" y="76194"/>
                </a:cubicBezTo>
                <a:lnTo>
                  <a:pt x="5581650" y="1962156"/>
                </a:lnTo>
                <a:cubicBezTo>
                  <a:pt x="5581650" y="2004237"/>
                  <a:pt x="5547537" y="2038350"/>
                  <a:pt x="5505456" y="2038350"/>
                </a:cubicBez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181100"/>
            <a:ext cx="38100" cy="2038350"/>
          </a:xfrm>
          <a:custGeom>
            <a:avLst/>
            <a:gdLst/>
            <a:ahLst/>
            <a:cxnLst/>
            <a:rect l="l" t="t" r="r" b="b"/>
            <a:pathLst>
              <a:path w="38100" h="2038350">
                <a:moveTo>
                  <a:pt x="0" y="0"/>
                </a:moveTo>
                <a:lnTo>
                  <a:pt x="38100" y="0"/>
                </a:lnTo>
                <a:lnTo>
                  <a:pt x="3810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145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medical diagnosis, machine learning classifiers face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 class imbalance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healthy samples vastly outnumber disease-positive cases.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32410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imbalance causes models to become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biased toward the majority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resulting in high accuracy but dangerously low recall for the minority (disease) class.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371850"/>
            <a:ext cx="5581650" cy="2324100"/>
          </a:xfrm>
          <a:custGeom>
            <a:avLst/>
            <a:gdLst/>
            <a:ahLst/>
            <a:cxnLst/>
            <a:rect l="l" t="t" r="r" b="b"/>
            <a:pathLst>
              <a:path w="5581650" h="2324100">
                <a:moveTo>
                  <a:pt x="0" y="0"/>
                </a:moveTo>
                <a:lnTo>
                  <a:pt x="5505443" y="0"/>
                </a:lnTo>
                <a:cubicBezTo>
                  <a:pt x="5547531" y="0"/>
                  <a:pt x="5581650" y="34119"/>
                  <a:pt x="5581650" y="76207"/>
                </a:cubicBezTo>
                <a:lnTo>
                  <a:pt x="5581650" y="2247893"/>
                </a:lnTo>
                <a:cubicBezTo>
                  <a:pt x="5581650" y="2289981"/>
                  <a:pt x="5547531" y="2324100"/>
                  <a:pt x="5505443" y="2324100"/>
                </a:cubicBez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37185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352425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Definition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905250"/>
            <a:ext cx="5257800" cy="1028700"/>
          </a:xfrm>
          <a:custGeom>
            <a:avLst/>
            <a:gdLst/>
            <a:ahLst/>
            <a:cxnLst/>
            <a:rect l="l" t="t" r="r" b="b"/>
            <a:pathLst>
              <a:path w="5257800" h="1028700">
                <a:moveTo>
                  <a:pt x="76196" y="0"/>
                </a:moveTo>
                <a:lnTo>
                  <a:pt x="5181604" y="0"/>
                </a:lnTo>
                <a:cubicBezTo>
                  <a:pt x="5223686" y="0"/>
                  <a:pt x="5257800" y="34114"/>
                  <a:pt x="5257800" y="76196"/>
                </a:cubicBezTo>
                <a:lnTo>
                  <a:pt x="5257800" y="952504"/>
                </a:lnTo>
                <a:cubicBezTo>
                  <a:pt x="5257800" y="994586"/>
                  <a:pt x="5223686" y="1028700"/>
                  <a:pt x="51816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19550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dataset is severely imbalanced if: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8252" y="4400550"/>
            <a:ext cx="246429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δ = |C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min</a:t>
            </a:r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| / |C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maj</a:t>
            </a:r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| &lt; 0.2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504825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Cmin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minority class (malignant) and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Cmaj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majority class (benign).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300" y="1181100"/>
            <a:ext cx="5600700" cy="3600450"/>
          </a:xfrm>
          <a:custGeom>
            <a:avLst/>
            <a:gdLst/>
            <a:ahLst/>
            <a:cxnLst/>
            <a:rect l="l" t="t" r="r" b="b"/>
            <a:pathLst>
              <a:path w="5600700" h="3600450">
                <a:moveTo>
                  <a:pt x="76186" y="0"/>
                </a:moveTo>
                <a:lnTo>
                  <a:pt x="5524514" y="0"/>
                </a:lnTo>
                <a:cubicBezTo>
                  <a:pt x="5566591" y="0"/>
                  <a:pt x="5600700" y="34109"/>
                  <a:pt x="5600700" y="76186"/>
                </a:cubicBezTo>
                <a:lnTo>
                  <a:pt x="5600700" y="3524264"/>
                </a:lnTo>
                <a:cubicBezTo>
                  <a:pt x="5600700" y="3566341"/>
                  <a:pt x="5566591" y="3600450"/>
                  <a:pt x="5524514" y="3600450"/>
                </a:cubicBezTo>
                <a:lnTo>
                  <a:pt x="76186" y="3600450"/>
                </a:lnTo>
                <a:cubicBezTo>
                  <a:pt x="34109" y="3600450"/>
                  <a:pt x="0" y="3566341"/>
                  <a:pt x="0" y="352426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98419" y="1371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0" name="Text 18"/>
          <p:cNvSpPr/>
          <p:nvPr/>
        </p:nvSpPr>
        <p:spPr>
          <a:xfrm>
            <a:off x="6600825" y="13335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62700" y="221456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62700" y="18669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Samples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24779" y="1828800"/>
            <a:ext cx="44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569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2700" y="279558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62700" y="244792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0" y="2409825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2700" y="333851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62700" y="30099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Benign (Majority)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19209" y="299085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357 (62.7%)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2700" y="35528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Malignant (Minority)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50166" y="3533775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212 (37.3%)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5063" y="4938713"/>
            <a:ext cx="5591175" cy="1533525"/>
          </a:xfrm>
          <a:custGeom>
            <a:avLst/>
            <a:gdLst/>
            <a:ahLst/>
            <a:cxnLst/>
            <a:rect l="l" t="t" r="r" b="b"/>
            <a:pathLst>
              <a:path w="5591175" h="1533525">
                <a:moveTo>
                  <a:pt x="76201" y="0"/>
                </a:moveTo>
                <a:lnTo>
                  <a:pt x="5514974" y="0"/>
                </a:lnTo>
                <a:cubicBezTo>
                  <a:pt x="5557031" y="0"/>
                  <a:pt x="5591175" y="34144"/>
                  <a:pt x="5591175" y="76201"/>
                </a:cubicBezTo>
                <a:lnTo>
                  <a:pt x="5591175" y="1457324"/>
                </a:lnTo>
                <a:cubicBezTo>
                  <a:pt x="5591175" y="1499381"/>
                  <a:pt x="5557031" y="1533525"/>
                  <a:pt x="5514974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2225" y="5095875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Accuracy Fails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1275" y="5514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5" name="Text 33"/>
          <p:cNvSpPr/>
          <p:nvPr/>
        </p:nvSpPr>
        <p:spPr>
          <a:xfrm>
            <a:off x="6638925" y="5476875"/>
            <a:ext cx="433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model predicting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cases as benign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achieves 62.7% accuracy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1275" y="5819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7" name="Text 35"/>
          <p:cNvSpPr/>
          <p:nvPr/>
        </p:nvSpPr>
        <p:spPr>
          <a:xfrm>
            <a:off x="6638925" y="5781675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 has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0% recall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malignant cases—clinically useless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6124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9" name="Text 37"/>
          <p:cNvSpPr/>
          <p:nvPr/>
        </p:nvSpPr>
        <p:spPr>
          <a:xfrm>
            <a:off x="6638925" y="6086475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Focus on Recall, F1-score, AUC-ROC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Research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Phase II: Problem Formulation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581650" cy="2105025"/>
          </a:xfrm>
          <a:custGeom>
            <a:avLst/>
            <a:gdLst/>
            <a:ahLst/>
            <a:cxnLst/>
            <a:rect l="l" t="t" r="r" b="b"/>
            <a:pathLst>
              <a:path w="5581650" h="2105025">
                <a:moveTo>
                  <a:pt x="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2028823"/>
                </a:lnTo>
                <a:cubicBezTo>
                  <a:pt x="5581650" y="2070908"/>
                  <a:pt x="5547533" y="2105025"/>
                  <a:pt x="5505448" y="2105025"/>
                </a:cubicBez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181100"/>
            <a:ext cx="38100" cy="2105025"/>
          </a:xfrm>
          <a:custGeom>
            <a:avLst/>
            <a:gdLst/>
            <a:ahLst/>
            <a:cxnLst/>
            <a:rect l="l" t="t" r="r" b="b"/>
            <a:pathLst>
              <a:path w="38100" h="2105025">
                <a:moveTo>
                  <a:pt x="0" y="0"/>
                </a:moveTo>
                <a:lnTo>
                  <a:pt x="38100" y="0"/>
                </a:lnTo>
                <a:lnTo>
                  <a:pt x="38100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714500"/>
            <a:ext cx="5257800" cy="1419225"/>
          </a:xfrm>
          <a:custGeom>
            <a:avLst/>
            <a:gdLst/>
            <a:ahLst/>
            <a:cxnLst/>
            <a:rect l="l" t="t" r="r" b="b"/>
            <a:pathLst>
              <a:path w="5257800" h="1419225">
                <a:moveTo>
                  <a:pt x="76198" y="0"/>
                </a:moveTo>
                <a:lnTo>
                  <a:pt x="5181602" y="0"/>
                </a:lnTo>
                <a:cubicBezTo>
                  <a:pt x="5223685" y="0"/>
                  <a:pt x="5257800" y="34115"/>
                  <a:pt x="5257800" y="76198"/>
                </a:cubicBezTo>
                <a:lnTo>
                  <a:pt x="5257800" y="1343027"/>
                </a:lnTo>
                <a:cubicBezTo>
                  <a:pt x="5257800" y="1385110"/>
                  <a:pt x="5223685" y="1419225"/>
                  <a:pt x="5181602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23900" y="1866900"/>
            <a:ext cx="50387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"To what extent can 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combining SMOTE and cost-sensitive XGBoost improve minority-class Recall and reduce false negatives in breast cancer diagnosis compared to using SMOTE or cost-sensitive learning individually?"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181100"/>
            <a:ext cx="5581650" cy="2105025"/>
          </a:xfrm>
          <a:custGeom>
            <a:avLst/>
            <a:gdLst/>
            <a:ahLst/>
            <a:cxnLst/>
            <a:rect l="l" t="t" r="r" b="b"/>
            <a:pathLst>
              <a:path w="5581650" h="2105025">
                <a:moveTo>
                  <a:pt x="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2028823"/>
                </a:lnTo>
                <a:cubicBezTo>
                  <a:pt x="5581650" y="2070908"/>
                  <a:pt x="5547533" y="2105025"/>
                  <a:pt x="5505448" y="2105025"/>
                </a:cubicBez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181100"/>
            <a:ext cx="38100" cy="2105025"/>
          </a:xfrm>
          <a:custGeom>
            <a:avLst/>
            <a:gdLst/>
            <a:ahLst/>
            <a:cxnLst/>
            <a:rect l="l" t="t" r="r" b="b"/>
            <a:pathLst>
              <a:path w="38100" h="2105025">
                <a:moveTo>
                  <a:pt x="0" y="0"/>
                </a:moveTo>
                <a:lnTo>
                  <a:pt x="38100" y="0"/>
                </a:lnTo>
                <a:lnTo>
                  <a:pt x="38100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8425" y="1371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4" name="Text 12"/>
          <p:cNvSpPr/>
          <p:nvPr/>
        </p:nvSpPr>
        <p:spPr>
          <a:xfrm>
            <a:off x="66389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Motivation for Hybrid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7145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4001" y="17145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alone: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Generates synthetic samples but may introduce noise in overlapping regions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2479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4001" y="2247900"/>
            <a:ext cx="5200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Cost-sensitive alone: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Adjusts decision boundaries but struggles with complex non-linear separations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7813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4001" y="2781300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Combines data-level and algorithm-level strengths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438525"/>
            <a:ext cx="6800850" cy="2305050"/>
          </a:xfrm>
          <a:custGeom>
            <a:avLst/>
            <a:gdLst/>
            <a:ahLst/>
            <a:cxnLst/>
            <a:rect l="l" t="t" r="r" b="b"/>
            <a:pathLst>
              <a:path w="6800850" h="2305050">
                <a:moveTo>
                  <a:pt x="76205" y="0"/>
                </a:moveTo>
                <a:lnTo>
                  <a:pt x="6724645" y="0"/>
                </a:lnTo>
                <a:cubicBezTo>
                  <a:pt x="6766732" y="0"/>
                  <a:pt x="6800850" y="34118"/>
                  <a:pt x="6800850" y="76205"/>
                </a:cubicBezTo>
                <a:lnTo>
                  <a:pt x="6800850" y="2228845"/>
                </a:lnTo>
                <a:cubicBezTo>
                  <a:pt x="6800850" y="2270932"/>
                  <a:pt x="6766732" y="2305050"/>
                  <a:pt x="6724645" y="2305050"/>
                </a:cubicBezTo>
                <a:lnTo>
                  <a:pt x="76205" y="2305050"/>
                </a:lnTo>
                <a:cubicBezTo>
                  <a:pt x="34118" y="2305050"/>
                  <a:pt x="0" y="2270932"/>
                  <a:pt x="0" y="22288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3400" y="3590925"/>
            <a:ext cx="659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40100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95300" y="40100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" y="4010025"/>
            <a:ext cx="28289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why current SMOTE-based and cost-sensitive models fail to achieve high Recall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5690" y="40100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817590" y="40100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74790" y="4010025"/>
            <a:ext cx="2828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hybrid framework integrating SMOTE with cost-sensitive XGBoost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752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5300" y="47529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4752975"/>
            <a:ext cx="2828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against traditional methods using Recall, F1-score, and AUC-ROC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55690" y="4752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17590" y="47529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74790" y="4752975"/>
            <a:ext cx="28289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effectiveness in reducing false negatives without significantly lowering precision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5143" y="3443288"/>
            <a:ext cx="4467225" cy="2295525"/>
          </a:xfrm>
          <a:custGeom>
            <a:avLst/>
            <a:gdLst/>
            <a:ahLst/>
            <a:cxnLst/>
            <a:rect l="l" t="t" r="r" b="b"/>
            <a:pathLst>
              <a:path w="4467225" h="2295525">
                <a:moveTo>
                  <a:pt x="76211" y="0"/>
                </a:moveTo>
                <a:lnTo>
                  <a:pt x="4391014" y="0"/>
                </a:lnTo>
                <a:cubicBezTo>
                  <a:pt x="4433104" y="0"/>
                  <a:pt x="4467225" y="34121"/>
                  <a:pt x="4467225" y="76211"/>
                </a:cubicBezTo>
                <a:lnTo>
                  <a:pt x="4467225" y="2219314"/>
                </a:lnTo>
                <a:cubicBezTo>
                  <a:pt x="4467225" y="2261404"/>
                  <a:pt x="4433104" y="2295525"/>
                  <a:pt x="439101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2305" y="3600450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Justification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2305" y="4019550"/>
            <a:ext cx="4152900" cy="723900"/>
          </a:xfrm>
          <a:custGeom>
            <a:avLst/>
            <a:gdLst/>
            <a:ahLst/>
            <a:cxnLst/>
            <a:rect l="l" t="t" r="r" b="b"/>
            <a:pathLst>
              <a:path w="4152900" h="723900">
                <a:moveTo>
                  <a:pt x="76198" y="0"/>
                </a:moveTo>
                <a:lnTo>
                  <a:pt x="4076702" y="0"/>
                </a:lnTo>
                <a:cubicBezTo>
                  <a:pt x="4118757" y="0"/>
                  <a:pt x="4152900" y="34143"/>
                  <a:pt x="4152900" y="76198"/>
                </a:cubicBezTo>
                <a:lnTo>
                  <a:pt x="4152900" y="647702"/>
                </a:lnTo>
                <a:cubicBezTo>
                  <a:pt x="4152900" y="689757"/>
                  <a:pt x="4118757" y="723900"/>
                  <a:pt x="4076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625655" y="4171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9" name="Text 37"/>
          <p:cNvSpPr/>
          <p:nvPr/>
        </p:nvSpPr>
        <p:spPr>
          <a:xfrm>
            <a:off x="7873305" y="41338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Negatives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06605" y="4438650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Missed diagnosis → delayed treatment → worse outcomes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2305" y="4857750"/>
            <a:ext cx="4152900" cy="723900"/>
          </a:xfrm>
          <a:custGeom>
            <a:avLst/>
            <a:gdLst/>
            <a:ahLst/>
            <a:cxnLst/>
            <a:rect l="l" t="t" r="r" b="b"/>
            <a:pathLst>
              <a:path w="4152900" h="723900">
                <a:moveTo>
                  <a:pt x="76198" y="0"/>
                </a:moveTo>
                <a:lnTo>
                  <a:pt x="4076702" y="0"/>
                </a:lnTo>
                <a:cubicBezTo>
                  <a:pt x="4118757" y="0"/>
                  <a:pt x="4152900" y="34143"/>
                  <a:pt x="4152900" y="76198"/>
                </a:cubicBezTo>
                <a:lnTo>
                  <a:pt x="4152900" y="647702"/>
                </a:lnTo>
                <a:cubicBezTo>
                  <a:pt x="4152900" y="689757"/>
                  <a:pt x="4118757" y="723900"/>
                  <a:pt x="4076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25655" y="5010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3" name="Text 41"/>
          <p:cNvSpPr/>
          <p:nvPr/>
        </p:nvSpPr>
        <p:spPr>
          <a:xfrm>
            <a:off x="7873305" y="49720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06605" y="5276850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 further investigation—less critical than missed cases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03. Phase III Methodology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SMOTE + Cost-Sensitive XGBoost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581650" cy="3086100"/>
          </a:xfrm>
          <a:custGeom>
            <a:avLst/>
            <a:gdLst/>
            <a:ahLst/>
            <a:cxnLst/>
            <a:rect l="l" t="t" r="r" b="b"/>
            <a:pathLst>
              <a:path w="5581650" h="308610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3009904"/>
                </a:lnTo>
                <a:cubicBezTo>
                  <a:pt x="5581650" y="3051986"/>
                  <a:pt x="5547536" y="3086100"/>
                  <a:pt x="5505454" y="3086100"/>
                </a:cubicBez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181100"/>
            <a:ext cx="38100" cy="3086100"/>
          </a:xfrm>
          <a:custGeom>
            <a:avLst/>
            <a:gdLst/>
            <a:ahLst/>
            <a:cxnLst/>
            <a:rect l="l" t="t" r="r" b="b"/>
            <a:pathLst>
              <a:path w="38100" h="3086100">
                <a:moveTo>
                  <a:pt x="0" y="0"/>
                </a:moveTo>
                <a:lnTo>
                  <a:pt x="38100" y="0"/>
                </a:lnTo>
                <a:lnTo>
                  <a:pt x="38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SMOTE: Synthetic Minority Oversampling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714500"/>
            <a:ext cx="5257800" cy="1257300"/>
          </a:xfrm>
          <a:custGeom>
            <a:avLst/>
            <a:gdLst/>
            <a:ahLst/>
            <a:cxnLst/>
            <a:rect l="l" t="t" r="r" b="b"/>
            <a:pathLst>
              <a:path w="5257800" h="1257300">
                <a:moveTo>
                  <a:pt x="76205" y="0"/>
                </a:moveTo>
                <a:lnTo>
                  <a:pt x="5181595" y="0"/>
                </a:lnTo>
                <a:cubicBezTo>
                  <a:pt x="5223682" y="0"/>
                  <a:pt x="5257800" y="34118"/>
                  <a:pt x="5257800" y="76205"/>
                </a:cubicBezTo>
                <a:lnTo>
                  <a:pt x="5257800" y="1181095"/>
                </a:lnTo>
                <a:cubicBezTo>
                  <a:pt x="5257800" y="1223182"/>
                  <a:pt x="5223682" y="1257300"/>
                  <a:pt x="51815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interpolation formula: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3023" y="2228850"/>
            <a:ext cx="18347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x</a:t>
            </a:r>
            <a:pPr algn="ctr">
              <a:lnSpc>
                <a:spcPct val="110000"/>
              </a:lnSpc>
            </a:pPr>
            <a:r>
              <a:rPr lang="en-US" sz="13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new</a:t>
            </a:r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x</a:t>
            </a:r>
            <a:pPr algn="ctr">
              <a:lnSpc>
                <a:spcPct val="110000"/>
              </a:lnSpc>
            </a:pPr>
            <a:r>
              <a:rPr lang="en-US" sz="13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+ λ(x</a:t>
            </a:r>
            <a:pPr algn="ctr">
              <a:lnSpc>
                <a:spcPct val="110000"/>
              </a:lnSpc>
            </a:pPr>
            <a:r>
              <a:rPr lang="en-US" sz="13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zi</a:t>
            </a:r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- x</a:t>
            </a:r>
            <a:pPr algn="ctr">
              <a:lnSpc>
                <a:spcPct val="110000"/>
              </a:lnSpc>
            </a:pPr>
            <a:r>
              <a:rPr lang="en-US" sz="13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463" y="2667000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λ ~ U(0,1)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Select minority instance 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3528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Find k-nearest minority neighbors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6195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Choose random neighbor x</a:t>
            </a:r>
            <a:pPr>
              <a:lnSpc>
                <a:spcPct val="13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8862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Generate synthetic sample along line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9350" y="1181100"/>
            <a:ext cx="5581650" cy="3086100"/>
          </a:xfrm>
          <a:custGeom>
            <a:avLst/>
            <a:gdLst/>
            <a:ahLst/>
            <a:cxnLst/>
            <a:rect l="l" t="t" r="r" b="b"/>
            <a:pathLst>
              <a:path w="5581650" h="308610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3009904"/>
                </a:lnTo>
                <a:cubicBezTo>
                  <a:pt x="5581650" y="3051986"/>
                  <a:pt x="5547536" y="3086100"/>
                  <a:pt x="5505454" y="3086100"/>
                </a:cubicBez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29350" y="1181100"/>
            <a:ext cx="38100" cy="3086100"/>
          </a:xfrm>
          <a:custGeom>
            <a:avLst/>
            <a:gdLst/>
            <a:ahLst/>
            <a:cxnLst/>
            <a:rect l="l" t="t" r="r" b="b"/>
            <a:pathLst>
              <a:path w="38100" h="3086100">
                <a:moveTo>
                  <a:pt x="0" y="0"/>
                </a:moveTo>
                <a:lnTo>
                  <a:pt x="38100" y="0"/>
                </a:lnTo>
                <a:lnTo>
                  <a:pt x="38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371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0" name="Text 18"/>
          <p:cNvSpPr/>
          <p:nvPr/>
        </p:nvSpPr>
        <p:spPr>
          <a:xfrm>
            <a:off x="66389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Cost-Sensitive XGBoost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1714500"/>
            <a:ext cx="5257800" cy="1257300"/>
          </a:xfrm>
          <a:custGeom>
            <a:avLst/>
            <a:gdLst/>
            <a:ahLst/>
            <a:cxnLst/>
            <a:rect l="l" t="t" r="r" b="b"/>
            <a:pathLst>
              <a:path w="5257800" h="1257300">
                <a:moveTo>
                  <a:pt x="76205" y="0"/>
                </a:moveTo>
                <a:lnTo>
                  <a:pt x="5181595" y="0"/>
                </a:lnTo>
                <a:cubicBezTo>
                  <a:pt x="5223682" y="0"/>
                  <a:pt x="5257800" y="34118"/>
                  <a:pt x="5257800" y="76205"/>
                </a:cubicBezTo>
                <a:lnTo>
                  <a:pt x="5257800" y="1181095"/>
                </a:lnTo>
                <a:cubicBezTo>
                  <a:pt x="5257800" y="1223182"/>
                  <a:pt x="5223682" y="1257300"/>
                  <a:pt x="51815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15100" y="1828800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scale_pos_weight formula: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71668" y="2228850"/>
            <a:ext cx="23159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spw = N</a:t>
            </a:r>
            <a:pPr algn="ctr">
              <a:lnSpc>
                <a:spcPct val="110000"/>
              </a:lnSpc>
            </a:pPr>
            <a:r>
              <a:rPr lang="en-US" sz="13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majority</a:t>
            </a:r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/ N</a:t>
            </a:r>
            <a:pPr algn="ctr">
              <a:lnSpc>
                <a:spcPct val="110000"/>
              </a:lnSpc>
            </a:pPr>
            <a:r>
              <a:rPr lang="en-US" sz="1350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minority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81763" y="2667000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357 / 212 = 1.68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30861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Penalizes minority misclassification more heavily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33528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Minimize total cost rather than total error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6195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Shifts decision boundary toward minority class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4419600"/>
            <a:ext cx="11430000" cy="1943100"/>
          </a:xfrm>
          <a:custGeom>
            <a:avLst/>
            <a:gdLst/>
            <a:ahLst/>
            <a:cxnLst/>
            <a:rect l="l" t="t" r="r" b="b"/>
            <a:pathLst>
              <a:path w="11430000" h="1943100">
                <a:moveTo>
                  <a:pt x="76208" y="0"/>
                </a:moveTo>
                <a:lnTo>
                  <a:pt x="11353792" y="0"/>
                </a:lnTo>
                <a:cubicBezTo>
                  <a:pt x="11395880" y="0"/>
                  <a:pt x="11430000" y="34120"/>
                  <a:pt x="11430000" y="76208"/>
                </a:cubicBezTo>
                <a:lnTo>
                  <a:pt x="11430000" y="1866892"/>
                </a:lnTo>
                <a:cubicBezTo>
                  <a:pt x="11430000" y="1908980"/>
                  <a:pt x="11395880" y="1943100"/>
                  <a:pt x="113537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3400" y="4572000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Models Compared in Phase III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8163" y="4995863"/>
            <a:ext cx="2657475" cy="1209675"/>
          </a:xfrm>
          <a:custGeom>
            <a:avLst/>
            <a:gdLst/>
            <a:ahLst/>
            <a:cxnLst/>
            <a:rect l="l" t="t" r="r" b="b"/>
            <a:pathLst>
              <a:path w="2657475" h="1209675">
                <a:moveTo>
                  <a:pt x="76197" y="0"/>
                </a:moveTo>
                <a:lnTo>
                  <a:pt x="2581278" y="0"/>
                </a:lnTo>
                <a:cubicBezTo>
                  <a:pt x="2623332" y="0"/>
                  <a:pt x="2657475" y="34143"/>
                  <a:pt x="2657475" y="76197"/>
                </a:cubicBezTo>
                <a:lnTo>
                  <a:pt x="2657475" y="1133478"/>
                </a:lnTo>
                <a:cubicBezTo>
                  <a:pt x="2657475" y="1175532"/>
                  <a:pt x="2623332" y="1209675"/>
                  <a:pt x="2581278" y="1209675"/>
                </a:cubicBezTo>
                <a:lnTo>
                  <a:pt x="76197" y="1209675"/>
                </a:lnTo>
                <a:cubicBezTo>
                  <a:pt x="34143" y="1209675"/>
                  <a:pt x="0" y="1175532"/>
                  <a:pt x="0" y="11334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76400" y="5114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799034" y="5172075"/>
            <a:ext cx="13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788A9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9125" y="55721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3888" y="58769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on original imbalanced data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57563" y="4995863"/>
            <a:ext cx="2657475" cy="1209675"/>
          </a:xfrm>
          <a:custGeom>
            <a:avLst/>
            <a:gdLst/>
            <a:ahLst/>
            <a:cxnLst/>
            <a:rect l="l" t="t" r="r" b="b"/>
            <a:pathLst>
              <a:path w="2657475" h="1209675">
                <a:moveTo>
                  <a:pt x="76197" y="0"/>
                </a:moveTo>
                <a:lnTo>
                  <a:pt x="2581278" y="0"/>
                </a:lnTo>
                <a:cubicBezTo>
                  <a:pt x="2623332" y="0"/>
                  <a:pt x="2657475" y="34143"/>
                  <a:pt x="2657475" y="76197"/>
                </a:cubicBezTo>
                <a:lnTo>
                  <a:pt x="2657475" y="1133478"/>
                </a:lnTo>
                <a:cubicBezTo>
                  <a:pt x="2657475" y="1175532"/>
                  <a:pt x="2623332" y="1209675"/>
                  <a:pt x="2581278" y="1209675"/>
                </a:cubicBezTo>
                <a:lnTo>
                  <a:pt x="76197" y="1209675"/>
                </a:lnTo>
                <a:cubicBezTo>
                  <a:pt x="34143" y="1209675"/>
                  <a:pt x="0" y="1175532"/>
                  <a:pt x="0" y="11334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95800" y="5114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02659" y="517207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38525" y="55721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43288" y="58769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with SMOTE oversampling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6963" y="4995863"/>
            <a:ext cx="2657475" cy="1209675"/>
          </a:xfrm>
          <a:custGeom>
            <a:avLst/>
            <a:gdLst/>
            <a:ahLst/>
            <a:cxnLst/>
            <a:rect l="l" t="t" r="r" b="b"/>
            <a:pathLst>
              <a:path w="2657475" h="1209675">
                <a:moveTo>
                  <a:pt x="76197" y="0"/>
                </a:moveTo>
                <a:lnTo>
                  <a:pt x="2581278" y="0"/>
                </a:lnTo>
                <a:cubicBezTo>
                  <a:pt x="2623332" y="0"/>
                  <a:pt x="2657475" y="34143"/>
                  <a:pt x="2657475" y="76197"/>
                </a:cubicBezTo>
                <a:lnTo>
                  <a:pt x="2657475" y="1133478"/>
                </a:lnTo>
                <a:cubicBezTo>
                  <a:pt x="2657475" y="1175532"/>
                  <a:pt x="2623332" y="1209675"/>
                  <a:pt x="2581278" y="1209675"/>
                </a:cubicBezTo>
                <a:lnTo>
                  <a:pt x="76197" y="1209675"/>
                </a:lnTo>
                <a:cubicBezTo>
                  <a:pt x="34143" y="1209675"/>
                  <a:pt x="0" y="1175532"/>
                  <a:pt x="0" y="11334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5114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21612" y="517207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57925" y="55721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Cost-Sensitive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62688" y="58769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with scale_pos_weight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01125" y="5000625"/>
            <a:ext cx="2647950" cy="1200150"/>
          </a:xfrm>
          <a:custGeom>
            <a:avLst/>
            <a:gdLst/>
            <a:ahLst/>
            <a:cxnLst/>
            <a:rect l="l" t="t" r="r" b="b"/>
            <a:pathLst>
              <a:path w="2647950" h="1200150">
                <a:moveTo>
                  <a:pt x="76198" y="0"/>
                </a:moveTo>
                <a:lnTo>
                  <a:pt x="2571752" y="0"/>
                </a:lnTo>
                <a:cubicBezTo>
                  <a:pt x="2613835" y="0"/>
                  <a:pt x="2647950" y="34115"/>
                  <a:pt x="2647950" y="76198"/>
                </a:cubicBezTo>
                <a:lnTo>
                  <a:pt x="2647950" y="1123952"/>
                </a:lnTo>
                <a:cubicBezTo>
                  <a:pt x="2647950" y="1166035"/>
                  <a:pt x="2613835" y="1200150"/>
                  <a:pt x="2571752" y="1200150"/>
                </a:cubicBezTo>
                <a:lnTo>
                  <a:pt x="76198" y="1200150"/>
                </a:lnTo>
                <a:cubicBezTo>
                  <a:pt x="34115" y="1200150"/>
                  <a:pt x="0" y="1166035"/>
                  <a:pt x="0" y="11239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25400">
            <a:solidFill>
              <a:srgbClr val="38A3A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34600" y="5124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237143" y="51816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86850" y="55816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91613" y="588645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+ Cost-Sensitive XGBoost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340" y="454008"/>
            <a:ext cx="454008" cy="37834"/>
          </a:xfrm>
          <a:custGeom>
            <a:avLst/>
            <a:gdLst/>
            <a:ahLst/>
            <a:cxnLst/>
            <a:rect l="l" t="t" r="r" b="b"/>
            <a:pathLst>
              <a:path w="454008" h="37834">
                <a:moveTo>
                  <a:pt x="0" y="0"/>
                </a:moveTo>
                <a:lnTo>
                  <a:pt x="454008" y="0"/>
                </a:lnTo>
                <a:lnTo>
                  <a:pt x="454008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45849" y="378340"/>
            <a:ext cx="1787656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spc="104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Critical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340" y="643178"/>
            <a:ext cx="11605573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1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Phase III Results &amp; Identified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257" y="1172853"/>
            <a:ext cx="5580512" cy="3244264"/>
          </a:xfrm>
          <a:custGeom>
            <a:avLst/>
            <a:gdLst/>
            <a:ahLst/>
            <a:cxnLst/>
            <a:rect l="l" t="t" r="r" b="b"/>
            <a:pathLst>
              <a:path w="5580512" h="3244264">
                <a:moveTo>
                  <a:pt x="0" y="0"/>
                </a:moveTo>
                <a:lnTo>
                  <a:pt x="5504856" y="0"/>
                </a:lnTo>
                <a:cubicBezTo>
                  <a:pt x="5546640" y="0"/>
                  <a:pt x="5580512" y="33872"/>
                  <a:pt x="5580512" y="75656"/>
                </a:cubicBezTo>
                <a:lnTo>
                  <a:pt x="5580512" y="3168608"/>
                </a:lnTo>
                <a:cubicBezTo>
                  <a:pt x="5580512" y="3210391"/>
                  <a:pt x="5546640" y="3244264"/>
                  <a:pt x="5504856" y="3244264"/>
                </a:cubicBezTo>
                <a:lnTo>
                  <a:pt x="0" y="3244264"/>
                </a:lnTo>
                <a:lnTo>
                  <a:pt x="0" y="0"/>
                </a:ln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7257" y="1172853"/>
            <a:ext cx="37834" cy="3244264"/>
          </a:xfrm>
          <a:custGeom>
            <a:avLst/>
            <a:gdLst/>
            <a:ahLst/>
            <a:cxnLst/>
            <a:rect l="l" t="t" r="r" b="b"/>
            <a:pathLst>
              <a:path w="37834" h="3244264">
                <a:moveTo>
                  <a:pt x="0" y="0"/>
                </a:moveTo>
                <a:lnTo>
                  <a:pt x="37834" y="0"/>
                </a:lnTo>
                <a:lnTo>
                  <a:pt x="37834" y="3244264"/>
                </a:lnTo>
                <a:lnTo>
                  <a:pt x="0" y="3244264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Shape 5"/>
          <p:cNvSpPr/>
          <p:nvPr/>
        </p:nvSpPr>
        <p:spPr>
          <a:xfrm>
            <a:off x="591156" y="1362023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23646" y="23646"/>
                </a:moveTo>
                <a:cubicBezTo>
                  <a:pt x="23646" y="17107"/>
                  <a:pt x="18363" y="11823"/>
                  <a:pt x="11823" y="11823"/>
                </a:cubicBezTo>
                <a:cubicBezTo>
                  <a:pt x="5283" y="11823"/>
                  <a:pt x="0" y="17107"/>
                  <a:pt x="0" y="23646"/>
                </a:cubicBezTo>
                <a:lnTo>
                  <a:pt x="0" y="147789"/>
                </a:lnTo>
                <a:cubicBezTo>
                  <a:pt x="0" y="164120"/>
                  <a:pt x="13227" y="177347"/>
                  <a:pt x="29558" y="177347"/>
                </a:cubicBezTo>
                <a:lnTo>
                  <a:pt x="177347" y="177347"/>
                </a:lnTo>
                <a:cubicBezTo>
                  <a:pt x="183886" y="177347"/>
                  <a:pt x="189170" y="172063"/>
                  <a:pt x="189170" y="165524"/>
                </a:cubicBezTo>
                <a:cubicBezTo>
                  <a:pt x="189170" y="158984"/>
                  <a:pt x="183886" y="153701"/>
                  <a:pt x="177347" y="153701"/>
                </a:cubicBezTo>
                <a:lnTo>
                  <a:pt x="29558" y="153701"/>
                </a:lnTo>
                <a:cubicBezTo>
                  <a:pt x="26306" y="153701"/>
                  <a:pt x="23646" y="151040"/>
                  <a:pt x="23646" y="147789"/>
                </a:cubicBezTo>
                <a:lnTo>
                  <a:pt x="23646" y="23646"/>
                </a:lnTo>
                <a:close/>
                <a:moveTo>
                  <a:pt x="173874" y="55643"/>
                </a:moveTo>
                <a:cubicBezTo>
                  <a:pt x="178492" y="51024"/>
                  <a:pt x="178492" y="43524"/>
                  <a:pt x="173874" y="38905"/>
                </a:cubicBezTo>
                <a:cubicBezTo>
                  <a:pt x="169255" y="34287"/>
                  <a:pt x="161755" y="34287"/>
                  <a:pt x="157137" y="38905"/>
                </a:cubicBezTo>
                <a:lnTo>
                  <a:pt x="118231" y="77848"/>
                </a:lnTo>
                <a:lnTo>
                  <a:pt x="97023" y="56677"/>
                </a:lnTo>
                <a:cubicBezTo>
                  <a:pt x="92405" y="52059"/>
                  <a:pt x="84905" y="52059"/>
                  <a:pt x="80286" y="56677"/>
                </a:cubicBezTo>
                <a:lnTo>
                  <a:pt x="44817" y="92146"/>
                </a:lnTo>
                <a:cubicBezTo>
                  <a:pt x="40199" y="96765"/>
                  <a:pt x="40199" y="104265"/>
                  <a:pt x="44817" y="108884"/>
                </a:cubicBezTo>
                <a:cubicBezTo>
                  <a:pt x="49435" y="113502"/>
                  <a:pt x="56936" y="113502"/>
                  <a:pt x="61554" y="108884"/>
                </a:cubicBezTo>
                <a:lnTo>
                  <a:pt x="88673" y="81764"/>
                </a:lnTo>
                <a:lnTo>
                  <a:pt x="109881" y="102972"/>
                </a:lnTo>
                <a:cubicBezTo>
                  <a:pt x="114500" y="107590"/>
                  <a:pt x="122000" y="107590"/>
                  <a:pt x="126618" y="102972"/>
                </a:cubicBezTo>
                <a:lnTo>
                  <a:pt x="173911" y="55679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803972" y="1324189"/>
            <a:ext cx="5117046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7510" y="1702529"/>
            <a:ext cx="5258923" cy="718846"/>
          </a:xfrm>
          <a:custGeom>
            <a:avLst/>
            <a:gdLst/>
            <a:ahLst/>
            <a:cxnLst/>
            <a:rect l="l" t="t" r="r" b="b"/>
            <a:pathLst>
              <a:path w="5258923" h="718846">
                <a:moveTo>
                  <a:pt x="75666" y="0"/>
                </a:moveTo>
                <a:lnTo>
                  <a:pt x="5183258" y="0"/>
                </a:lnTo>
                <a:cubicBezTo>
                  <a:pt x="5225047" y="0"/>
                  <a:pt x="5258923" y="33877"/>
                  <a:pt x="5258923" y="75666"/>
                </a:cubicBezTo>
                <a:lnTo>
                  <a:pt x="5258923" y="643180"/>
                </a:lnTo>
                <a:cubicBezTo>
                  <a:pt x="5258923" y="684969"/>
                  <a:pt x="5225047" y="718846"/>
                  <a:pt x="5183258" y="718846"/>
                </a:cubicBezTo>
                <a:lnTo>
                  <a:pt x="75666" y="718846"/>
                </a:lnTo>
                <a:cubicBezTo>
                  <a:pt x="33905" y="718846"/>
                  <a:pt x="0" y="684941"/>
                  <a:pt x="0" y="643180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1012" y="1834948"/>
            <a:ext cx="1399857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Improvement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5997" y="1816031"/>
            <a:ext cx="1059351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↑ Significant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012" y="2118703"/>
            <a:ext cx="509812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model achieved highest recall among all approaches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510" y="2497043"/>
            <a:ext cx="5258923" cy="718846"/>
          </a:xfrm>
          <a:custGeom>
            <a:avLst/>
            <a:gdLst/>
            <a:ahLst/>
            <a:cxnLst/>
            <a:rect l="l" t="t" r="r" b="b"/>
            <a:pathLst>
              <a:path w="5258923" h="718846">
                <a:moveTo>
                  <a:pt x="75666" y="0"/>
                </a:moveTo>
                <a:lnTo>
                  <a:pt x="5183258" y="0"/>
                </a:lnTo>
                <a:cubicBezTo>
                  <a:pt x="5225047" y="0"/>
                  <a:pt x="5258923" y="33877"/>
                  <a:pt x="5258923" y="75666"/>
                </a:cubicBezTo>
                <a:lnTo>
                  <a:pt x="5258923" y="643180"/>
                </a:lnTo>
                <a:cubicBezTo>
                  <a:pt x="5258923" y="684969"/>
                  <a:pt x="5225047" y="718846"/>
                  <a:pt x="5183258" y="718846"/>
                </a:cubicBezTo>
                <a:lnTo>
                  <a:pt x="75666" y="718846"/>
                </a:lnTo>
                <a:cubicBezTo>
                  <a:pt x="33905" y="718846"/>
                  <a:pt x="0" y="684941"/>
                  <a:pt x="0" y="643180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1012" y="2629462"/>
            <a:ext cx="1135019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Negatives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8517" y="2610545"/>
            <a:ext cx="870182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↓ Reduced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012" y="2913216"/>
            <a:ext cx="509812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Lowest FN count compared to baseline and individual methods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7510" y="3291556"/>
            <a:ext cx="5258923" cy="718846"/>
          </a:xfrm>
          <a:custGeom>
            <a:avLst/>
            <a:gdLst/>
            <a:ahLst/>
            <a:cxnLst/>
            <a:rect l="l" t="t" r="r" b="b"/>
            <a:pathLst>
              <a:path w="5258923" h="718846">
                <a:moveTo>
                  <a:pt x="75666" y="0"/>
                </a:moveTo>
                <a:lnTo>
                  <a:pt x="5183258" y="0"/>
                </a:lnTo>
                <a:cubicBezTo>
                  <a:pt x="5225047" y="0"/>
                  <a:pt x="5258923" y="33877"/>
                  <a:pt x="5258923" y="75666"/>
                </a:cubicBezTo>
                <a:lnTo>
                  <a:pt x="5258923" y="643180"/>
                </a:lnTo>
                <a:cubicBezTo>
                  <a:pt x="5258923" y="684969"/>
                  <a:pt x="5225047" y="718846"/>
                  <a:pt x="5183258" y="718846"/>
                </a:cubicBezTo>
                <a:lnTo>
                  <a:pt x="75666" y="718846"/>
                </a:lnTo>
                <a:cubicBezTo>
                  <a:pt x="33905" y="718846"/>
                  <a:pt x="0" y="684941"/>
                  <a:pt x="0" y="643180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1012" y="3423975"/>
            <a:ext cx="756680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AUC-ROC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97674" y="3405058"/>
            <a:ext cx="1012059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↑ Best 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012" y="3707730"/>
            <a:ext cx="5098129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Superior class separability demonstrated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7828" y="1172853"/>
            <a:ext cx="5580512" cy="3244264"/>
          </a:xfrm>
          <a:custGeom>
            <a:avLst/>
            <a:gdLst/>
            <a:ahLst/>
            <a:cxnLst/>
            <a:rect l="l" t="t" r="r" b="b"/>
            <a:pathLst>
              <a:path w="5580512" h="3244264">
                <a:moveTo>
                  <a:pt x="0" y="0"/>
                </a:moveTo>
                <a:lnTo>
                  <a:pt x="5504856" y="0"/>
                </a:lnTo>
                <a:cubicBezTo>
                  <a:pt x="5546640" y="0"/>
                  <a:pt x="5580512" y="33872"/>
                  <a:pt x="5580512" y="75656"/>
                </a:cubicBezTo>
                <a:lnTo>
                  <a:pt x="5580512" y="3168608"/>
                </a:lnTo>
                <a:cubicBezTo>
                  <a:pt x="5580512" y="3210391"/>
                  <a:pt x="5546640" y="3244264"/>
                  <a:pt x="5504856" y="3244264"/>
                </a:cubicBezTo>
                <a:lnTo>
                  <a:pt x="0" y="3244264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27828" y="1172853"/>
            <a:ext cx="37834" cy="3244264"/>
          </a:xfrm>
          <a:custGeom>
            <a:avLst/>
            <a:gdLst/>
            <a:ahLst/>
            <a:cxnLst/>
            <a:rect l="l" t="t" r="r" b="b"/>
            <a:pathLst>
              <a:path w="37834" h="3244264">
                <a:moveTo>
                  <a:pt x="0" y="0"/>
                </a:moveTo>
                <a:lnTo>
                  <a:pt x="37834" y="0"/>
                </a:lnTo>
                <a:lnTo>
                  <a:pt x="37834" y="3244264"/>
                </a:lnTo>
                <a:lnTo>
                  <a:pt x="0" y="3244264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1727" y="1362023"/>
            <a:ext cx="189170" cy="189170"/>
          </a:xfrm>
          <a:custGeom>
            <a:avLst/>
            <a:gdLst/>
            <a:ahLst/>
            <a:cxnLst/>
            <a:rect l="l" t="t" r="r" b="b"/>
            <a:pathLst>
              <a:path w="189170" h="189170">
                <a:moveTo>
                  <a:pt x="94585" y="189170"/>
                </a:moveTo>
                <a:cubicBezTo>
                  <a:pt x="146788" y="189170"/>
                  <a:pt x="189170" y="146788"/>
                  <a:pt x="189170" y="94585"/>
                </a:cubicBezTo>
                <a:cubicBezTo>
                  <a:pt x="189170" y="42382"/>
                  <a:pt x="146788" y="0"/>
                  <a:pt x="94585" y="0"/>
                </a:cubicBezTo>
                <a:cubicBezTo>
                  <a:pt x="42382" y="0"/>
                  <a:pt x="0" y="42382"/>
                  <a:pt x="0" y="94585"/>
                </a:cubicBezTo>
                <a:cubicBezTo>
                  <a:pt x="0" y="146788"/>
                  <a:pt x="42382" y="189170"/>
                  <a:pt x="94585" y="189170"/>
                </a:cubicBezTo>
                <a:close/>
                <a:moveTo>
                  <a:pt x="94585" y="50248"/>
                </a:moveTo>
                <a:cubicBezTo>
                  <a:pt x="99499" y="50248"/>
                  <a:pt x="103452" y="54202"/>
                  <a:pt x="103452" y="59116"/>
                </a:cubicBezTo>
                <a:lnTo>
                  <a:pt x="103452" y="100497"/>
                </a:lnTo>
                <a:cubicBezTo>
                  <a:pt x="103452" y="105410"/>
                  <a:pt x="99499" y="109364"/>
                  <a:pt x="94585" y="109364"/>
                </a:cubicBezTo>
                <a:cubicBezTo>
                  <a:pt x="89671" y="109364"/>
                  <a:pt x="85718" y="105410"/>
                  <a:pt x="85718" y="100497"/>
                </a:cubicBezTo>
                <a:lnTo>
                  <a:pt x="85718" y="59116"/>
                </a:lnTo>
                <a:cubicBezTo>
                  <a:pt x="85718" y="54202"/>
                  <a:pt x="89671" y="50248"/>
                  <a:pt x="94585" y="50248"/>
                </a:cubicBezTo>
                <a:close/>
                <a:moveTo>
                  <a:pt x="84720" y="130054"/>
                </a:moveTo>
                <a:cubicBezTo>
                  <a:pt x="84496" y="126393"/>
                  <a:pt x="86322" y="122909"/>
                  <a:pt x="89461" y="121010"/>
                </a:cubicBezTo>
                <a:cubicBezTo>
                  <a:pt x="92600" y="119111"/>
                  <a:pt x="96533" y="119111"/>
                  <a:pt x="99672" y="121010"/>
                </a:cubicBezTo>
                <a:cubicBezTo>
                  <a:pt x="102811" y="122909"/>
                  <a:pt x="104637" y="126393"/>
                  <a:pt x="104413" y="130054"/>
                </a:cubicBezTo>
                <a:cubicBezTo>
                  <a:pt x="104637" y="133716"/>
                  <a:pt x="102811" y="137200"/>
                  <a:pt x="99672" y="139099"/>
                </a:cubicBezTo>
                <a:cubicBezTo>
                  <a:pt x="96533" y="140997"/>
                  <a:pt x="92600" y="140997"/>
                  <a:pt x="89461" y="139099"/>
                </a:cubicBezTo>
                <a:cubicBezTo>
                  <a:pt x="86322" y="137200"/>
                  <a:pt x="84496" y="133716"/>
                  <a:pt x="84720" y="13005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6634543" y="1324189"/>
            <a:ext cx="5117046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Limitations Identified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8081" y="1702529"/>
            <a:ext cx="5258923" cy="1352565"/>
          </a:xfrm>
          <a:custGeom>
            <a:avLst/>
            <a:gdLst/>
            <a:ahLst/>
            <a:cxnLst/>
            <a:rect l="l" t="t" r="r" b="b"/>
            <a:pathLst>
              <a:path w="5258923" h="1352565">
                <a:moveTo>
                  <a:pt x="75662" y="0"/>
                </a:moveTo>
                <a:lnTo>
                  <a:pt x="5183261" y="0"/>
                </a:lnTo>
                <a:cubicBezTo>
                  <a:pt x="5225048" y="0"/>
                  <a:pt x="5258923" y="33875"/>
                  <a:pt x="5258923" y="75662"/>
                </a:cubicBezTo>
                <a:lnTo>
                  <a:pt x="5258923" y="1276902"/>
                </a:lnTo>
                <a:cubicBezTo>
                  <a:pt x="5258923" y="1318690"/>
                  <a:pt x="5225048" y="1352565"/>
                  <a:pt x="5183261" y="1352565"/>
                </a:cubicBezTo>
                <a:lnTo>
                  <a:pt x="75662" y="1352565"/>
                </a:lnTo>
                <a:cubicBezTo>
                  <a:pt x="33903" y="1352565"/>
                  <a:pt x="0" y="1318662"/>
                  <a:pt x="0" y="1276902"/>
                </a:cubicBezTo>
                <a:lnTo>
                  <a:pt x="0" y="75662"/>
                </a:lnTo>
                <a:cubicBezTo>
                  <a:pt x="0" y="33903"/>
                  <a:pt x="33903" y="0"/>
                  <a:pt x="756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11583" y="1816031"/>
            <a:ext cx="302672" cy="302672"/>
          </a:xfrm>
          <a:custGeom>
            <a:avLst/>
            <a:gdLst/>
            <a:ahLst/>
            <a:cxnLst/>
            <a:rect l="l" t="t" r="r" b="b"/>
            <a:pathLst>
              <a:path w="302672" h="302672">
                <a:moveTo>
                  <a:pt x="151336" y="0"/>
                </a:moveTo>
                <a:lnTo>
                  <a:pt x="151336" y="0"/>
                </a:lnTo>
                <a:cubicBezTo>
                  <a:pt x="234860" y="0"/>
                  <a:pt x="302672" y="67811"/>
                  <a:pt x="302672" y="151336"/>
                </a:cubicBezTo>
                <a:lnTo>
                  <a:pt x="302672" y="151336"/>
                </a:lnTo>
                <a:cubicBezTo>
                  <a:pt x="302672" y="234860"/>
                  <a:pt x="234860" y="302672"/>
                  <a:pt x="151336" y="302672"/>
                </a:cubicBezTo>
                <a:lnTo>
                  <a:pt x="151336" y="302672"/>
                </a:lnTo>
                <a:cubicBezTo>
                  <a:pt x="67811" y="302672"/>
                  <a:pt x="0" y="234860"/>
                  <a:pt x="0" y="151336"/>
                </a:cubicBezTo>
                <a:lnTo>
                  <a:pt x="0" y="151336"/>
                </a:lnTo>
                <a:cubicBezTo>
                  <a:pt x="0" y="67811"/>
                  <a:pt x="67811" y="0"/>
                  <a:pt x="151336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73749" y="1816031"/>
            <a:ext cx="378340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7756" y="1816031"/>
            <a:ext cx="4691413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Synthetic Generation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27756" y="2080869"/>
            <a:ext cx="4681955" cy="860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generates synthetic samples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uniformly across the minority class feature space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In datasets with overlapping features between benign and malignant cases, this introduces </a:t>
            </a:r>
            <a:pPr>
              <a:lnSpc>
                <a:spcPct val="140000"/>
              </a:lnSpc>
            </a:pPr>
            <a:r>
              <a:rPr lang="en-US" sz="10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noise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negatively affects decision boundaries.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8081" y="3130762"/>
            <a:ext cx="5258923" cy="1135019"/>
          </a:xfrm>
          <a:custGeom>
            <a:avLst/>
            <a:gdLst/>
            <a:ahLst/>
            <a:cxnLst/>
            <a:rect l="l" t="t" r="r" b="b"/>
            <a:pathLst>
              <a:path w="5258923" h="1135019">
                <a:moveTo>
                  <a:pt x="75672" y="0"/>
                </a:moveTo>
                <a:lnTo>
                  <a:pt x="5183251" y="0"/>
                </a:lnTo>
                <a:cubicBezTo>
                  <a:pt x="5225044" y="0"/>
                  <a:pt x="5258923" y="33879"/>
                  <a:pt x="5258923" y="75672"/>
                </a:cubicBezTo>
                <a:lnTo>
                  <a:pt x="5258923" y="1059348"/>
                </a:lnTo>
                <a:cubicBezTo>
                  <a:pt x="5258923" y="1101140"/>
                  <a:pt x="5225044" y="1135019"/>
                  <a:pt x="5183251" y="1135019"/>
                </a:cubicBezTo>
                <a:lnTo>
                  <a:pt x="75672" y="1135019"/>
                </a:lnTo>
                <a:cubicBezTo>
                  <a:pt x="33907" y="1135019"/>
                  <a:pt x="0" y="1101112"/>
                  <a:pt x="0" y="1059348"/>
                </a:cubicBezTo>
                <a:lnTo>
                  <a:pt x="0" y="75672"/>
                </a:lnTo>
                <a:cubicBezTo>
                  <a:pt x="0" y="33907"/>
                  <a:pt x="33907" y="0"/>
                  <a:pt x="756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11583" y="3244264"/>
            <a:ext cx="302672" cy="302672"/>
          </a:xfrm>
          <a:custGeom>
            <a:avLst/>
            <a:gdLst/>
            <a:ahLst/>
            <a:cxnLst/>
            <a:rect l="l" t="t" r="r" b="b"/>
            <a:pathLst>
              <a:path w="302672" h="302672">
                <a:moveTo>
                  <a:pt x="151336" y="0"/>
                </a:moveTo>
                <a:lnTo>
                  <a:pt x="151336" y="0"/>
                </a:lnTo>
                <a:cubicBezTo>
                  <a:pt x="234860" y="0"/>
                  <a:pt x="302672" y="67811"/>
                  <a:pt x="302672" y="151336"/>
                </a:cubicBezTo>
                <a:lnTo>
                  <a:pt x="302672" y="151336"/>
                </a:lnTo>
                <a:cubicBezTo>
                  <a:pt x="302672" y="234860"/>
                  <a:pt x="234860" y="302672"/>
                  <a:pt x="151336" y="302672"/>
                </a:cubicBezTo>
                <a:lnTo>
                  <a:pt x="151336" y="302672"/>
                </a:lnTo>
                <a:cubicBezTo>
                  <a:pt x="67811" y="302672"/>
                  <a:pt x="0" y="234860"/>
                  <a:pt x="0" y="151336"/>
                </a:cubicBezTo>
                <a:lnTo>
                  <a:pt x="0" y="151336"/>
                </a:lnTo>
                <a:cubicBezTo>
                  <a:pt x="0" y="67811"/>
                  <a:pt x="67811" y="0"/>
                  <a:pt x="151336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73749" y="3244264"/>
            <a:ext cx="378340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27756" y="3244264"/>
            <a:ext cx="4691413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Feature Selection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27756" y="3509102"/>
            <a:ext cx="4681955" cy="643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utilized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30 features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evaluating their relative importance. This increased the risk of learning noise from less informative features, leading to </a:t>
            </a:r>
            <a:pPr>
              <a:lnSpc>
                <a:spcPct val="140000"/>
              </a:lnSpc>
            </a:pPr>
            <a:r>
              <a:rPr lang="en-US" sz="10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model stability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an increase in false positives.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8340" y="4570818"/>
            <a:ext cx="11435320" cy="2288956"/>
          </a:xfrm>
          <a:custGeom>
            <a:avLst/>
            <a:gdLst/>
            <a:ahLst/>
            <a:cxnLst/>
            <a:rect l="l" t="t" r="r" b="b"/>
            <a:pathLst>
              <a:path w="11435320" h="2288956">
                <a:moveTo>
                  <a:pt x="75673" y="0"/>
                </a:moveTo>
                <a:lnTo>
                  <a:pt x="11359648" y="0"/>
                </a:lnTo>
                <a:cubicBezTo>
                  <a:pt x="11401441" y="0"/>
                  <a:pt x="11435320" y="33880"/>
                  <a:pt x="11435320" y="75673"/>
                </a:cubicBezTo>
                <a:lnTo>
                  <a:pt x="11435320" y="2213283"/>
                </a:lnTo>
                <a:cubicBezTo>
                  <a:pt x="11435320" y="2255076"/>
                  <a:pt x="11401441" y="2288956"/>
                  <a:pt x="11359648" y="2288956"/>
                </a:cubicBezTo>
                <a:lnTo>
                  <a:pt x="75673" y="2288956"/>
                </a:lnTo>
                <a:cubicBezTo>
                  <a:pt x="33908" y="2288956"/>
                  <a:pt x="0" y="2255048"/>
                  <a:pt x="0" y="2213283"/>
                </a:cubicBezTo>
                <a:lnTo>
                  <a:pt x="0" y="75673"/>
                </a:lnTo>
                <a:cubicBezTo>
                  <a:pt x="0" y="33908"/>
                  <a:pt x="33908" y="0"/>
                  <a:pt x="7567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9676" y="4722154"/>
            <a:ext cx="11227234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Analysis of the Problem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9676" y="5100493"/>
            <a:ext cx="3613145" cy="1607944"/>
          </a:xfrm>
          <a:custGeom>
            <a:avLst/>
            <a:gdLst/>
            <a:ahLst/>
            <a:cxnLst/>
            <a:rect l="l" t="t" r="r" b="b"/>
            <a:pathLst>
              <a:path w="3613145" h="1607944">
                <a:moveTo>
                  <a:pt x="75670" y="0"/>
                </a:moveTo>
                <a:lnTo>
                  <a:pt x="3537475" y="0"/>
                </a:lnTo>
                <a:cubicBezTo>
                  <a:pt x="3579267" y="0"/>
                  <a:pt x="3613145" y="33879"/>
                  <a:pt x="3613145" y="75670"/>
                </a:cubicBezTo>
                <a:lnTo>
                  <a:pt x="3613145" y="1532274"/>
                </a:lnTo>
                <a:cubicBezTo>
                  <a:pt x="3613145" y="1574066"/>
                  <a:pt x="3579267" y="1607944"/>
                  <a:pt x="3537475" y="1607944"/>
                </a:cubicBezTo>
                <a:lnTo>
                  <a:pt x="75670" y="1607944"/>
                </a:lnTo>
                <a:cubicBezTo>
                  <a:pt x="33879" y="1607944"/>
                  <a:pt x="0" y="1574066"/>
                  <a:pt x="0" y="1532274"/>
                </a:cubicBezTo>
                <a:lnTo>
                  <a:pt x="0" y="75670"/>
                </a:lnTo>
                <a:cubicBezTo>
                  <a:pt x="0" y="33907"/>
                  <a:pt x="33907" y="0"/>
                  <a:pt x="756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2095" y="5251829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19354" y="10168"/>
                </a:moveTo>
                <a:cubicBezTo>
                  <a:pt x="122901" y="8690"/>
                  <a:pt x="126951" y="9518"/>
                  <a:pt x="129670" y="12207"/>
                </a:cubicBezTo>
                <a:lnTo>
                  <a:pt x="148587" y="31124"/>
                </a:lnTo>
                <a:cubicBezTo>
                  <a:pt x="150361" y="32898"/>
                  <a:pt x="151365" y="35292"/>
                  <a:pt x="151365" y="37804"/>
                </a:cubicBezTo>
                <a:cubicBezTo>
                  <a:pt x="151365" y="40317"/>
                  <a:pt x="150361" y="42711"/>
                  <a:pt x="148587" y="44484"/>
                </a:cubicBezTo>
                <a:lnTo>
                  <a:pt x="129670" y="63401"/>
                </a:lnTo>
                <a:cubicBezTo>
                  <a:pt x="126951" y="66121"/>
                  <a:pt x="122901" y="66919"/>
                  <a:pt x="119354" y="65441"/>
                </a:cubicBezTo>
                <a:cubicBezTo>
                  <a:pt x="115807" y="63963"/>
                  <a:pt x="113502" y="60564"/>
                  <a:pt x="113502" y="56751"/>
                </a:cubicBezTo>
                <a:lnTo>
                  <a:pt x="113502" y="47292"/>
                </a:lnTo>
                <a:lnTo>
                  <a:pt x="104043" y="47292"/>
                </a:lnTo>
                <a:cubicBezTo>
                  <a:pt x="101058" y="47292"/>
                  <a:pt x="98250" y="48682"/>
                  <a:pt x="96477" y="51076"/>
                </a:cubicBezTo>
                <a:lnTo>
                  <a:pt x="86900" y="63845"/>
                </a:lnTo>
                <a:lnTo>
                  <a:pt x="75077" y="48091"/>
                </a:lnTo>
                <a:lnTo>
                  <a:pt x="81343" y="39726"/>
                </a:lnTo>
                <a:cubicBezTo>
                  <a:pt x="86693" y="32573"/>
                  <a:pt x="95117" y="28375"/>
                  <a:pt x="104043" y="28375"/>
                </a:cubicBezTo>
                <a:lnTo>
                  <a:pt x="113502" y="28375"/>
                </a:lnTo>
                <a:lnTo>
                  <a:pt x="113502" y="18917"/>
                </a:lnTo>
                <a:cubicBezTo>
                  <a:pt x="113502" y="15104"/>
                  <a:pt x="115807" y="11646"/>
                  <a:pt x="119354" y="10168"/>
                </a:cubicBezTo>
                <a:close/>
                <a:moveTo>
                  <a:pt x="45519" y="87491"/>
                </a:moveTo>
                <a:lnTo>
                  <a:pt x="57342" y="103245"/>
                </a:lnTo>
                <a:lnTo>
                  <a:pt x="51076" y="111610"/>
                </a:lnTo>
                <a:cubicBezTo>
                  <a:pt x="45726" y="118763"/>
                  <a:pt x="37302" y="122960"/>
                  <a:pt x="28375" y="122960"/>
                </a:cubicBezTo>
                <a:lnTo>
                  <a:pt x="9458" y="122960"/>
                </a:lnTo>
                <a:cubicBezTo>
                  <a:pt x="4227" y="122960"/>
                  <a:pt x="0" y="118734"/>
                  <a:pt x="0" y="113502"/>
                </a:cubicBezTo>
                <a:cubicBezTo>
                  <a:pt x="0" y="108270"/>
                  <a:pt x="4227" y="104043"/>
                  <a:pt x="9458" y="104043"/>
                </a:cubicBezTo>
                <a:lnTo>
                  <a:pt x="28375" y="104043"/>
                </a:lnTo>
                <a:cubicBezTo>
                  <a:pt x="31361" y="104043"/>
                  <a:pt x="34169" y="102654"/>
                  <a:pt x="35942" y="100260"/>
                </a:cubicBezTo>
                <a:lnTo>
                  <a:pt x="45519" y="87491"/>
                </a:lnTo>
                <a:close/>
                <a:moveTo>
                  <a:pt x="129640" y="139099"/>
                </a:moveTo>
                <a:cubicBezTo>
                  <a:pt x="126921" y="141818"/>
                  <a:pt x="122872" y="142616"/>
                  <a:pt x="119325" y="141138"/>
                </a:cubicBezTo>
                <a:cubicBezTo>
                  <a:pt x="115778" y="139661"/>
                  <a:pt x="113502" y="136232"/>
                  <a:pt x="113502" y="132419"/>
                </a:cubicBezTo>
                <a:lnTo>
                  <a:pt x="113502" y="122960"/>
                </a:lnTo>
                <a:lnTo>
                  <a:pt x="104043" y="122960"/>
                </a:lnTo>
                <a:cubicBezTo>
                  <a:pt x="95117" y="122960"/>
                  <a:pt x="86693" y="118763"/>
                  <a:pt x="81343" y="111610"/>
                </a:cubicBezTo>
                <a:lnTo>
                  <a:pt x="35942" y="51076"/>
                </a:lnTo>
                <a:cubicBezTo>
                  <a:pt x="34169" y="48682"/>
                  <a:pt x="31361" y="47292"/>
                  <a:pt x="28375" y="47292"/>
                </a:cubicBezTo>
                <a:lnTo>
                  <a:pt x="9458" y="47292"/>
                </a:lnTo>
                <a:cubicBezTo>
                  <a:pt x="4227" y="47292"/>
                  <a:pt x="0" y="43066"/>
                  <a:pt x="0" y="37834"/>
                </a:cubicBezTo>
                <a:cubicBezTo>
                  <a:pt x="0" y="32602"/>
                  <a:pt x="4227" y="28375"/>
                  <a:pt x="9458" y="28375"/>
                </a:cubicBezTo>
                <a:lnTo>
                  <a:pt x="28375" y="28375"/>
                </a:lnTo>
                <a:cubicBezTo>
                  <a:pt x="37302" y="28375"/>
                  <a:pt x="45726" y="32573"/>
                  <a:pt x="51076" y="39726"/>
                </a:cubicBezTo>
                <a:lnTo>
                  <a:pt x="96477" y="100260"/>
                </a:lnTo>
                <a:cubicBezTo>
                  <a:pt x="98250" y="102654"/>
                  <a:pt x="101058" y="104043"/>
                  <a:pt x="104043" y="104043"/>
                </a:cubicBezTo>
                <a:lnTo>
                  <a:pt x="113502" y="104043"/>
                </a:lnTo>
                <a:lnTo>
                  <a:pt x="113502" y="94585"/>
                </a:lnTo>
                <a:cubicBezTo>
                  <a:pt x="113502" y="90772"/>
                  <a:pt x="115807" y="87314"/>
                  <a:pt x="119354" y="85836"/>
                </a:cubicBezTo>
                <a:cubicBezTo>
                  <a:pt x="122901" y="84358"/>
                  <a:pt x="126951" y="85186"/>
                  <a:pt x="129670" y="87875"/>
                </a:cubicBezTo>
                <a:lnTo>
                  <a:pt x="148587" y="106792"/>
                </a:lnTo>
                <a:cubicBezTo>
                  <a:pt x="150361" y="108566"/>
                  <a:pt x="151365" y="110960"/>
                  <a:pt x="151365" y="113472"/>
                </a:cubicBezTo>
                <a:cubicBezTo>
                  <a:pt x="151365" y="115985"/>
                  <a:pt x="150361" y="118379"/>
                  <a:pt x="148587" y="120152"/>
                </a:cubicBezTo>
                <a:lnTo>
                  <a:pt x="129670" y="139069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9" name="Text 37"/>
          <p:cNvSpPr/>
          <p:nvPr/>
        </p:nvSpPr>
        <p:spPr>
          <a:xfrm>
            <a:off x="832348" y="5213995"/>
            <a:ext cx="3272639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SMOTE's Uniformity Issue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3178" y="5516667"/>
            <a:ext cx="3452351" cy="107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applies the same interpolation formula regardless of local density or classification difficulty. For each minority sample, it generates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n_synthetic/k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samples uniformly, without considering whether the region is easy or hard to classify.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90610" y="5100493"/>
            <a:ext cx="3613145" cy="1607944"/>
          </a:xfrm>
          <a:custGeom>
            <a:avLst/>
            <a:gdLst/>
            <a:ahLst/>
            <a:cxnLst/>
            <a:rect l="l" t="t" r="r" b="b"/>
            <a:pathLst>
              <a:path w="3613145" h="1607944">
                <a:moveTo>
                  <a:pt x="75670" y="0"/>
                </a:moveTo>
                <a:lnTo>
                  <a:pt x="3537475" y="0"/>
                </a:lnTo>
                <a:cubicBezTo>
                  <a:pt x="3579267" y="0"/>
                  <a:pt x="3613145" y="33879"/>
                  <a:pt x="3613145" y="75670"/>
                </a:cubicBezTo>
                <a:lnTo>
                  <a:pt x="3613145" y="1532274"/>
                </a:lnTo>
                <a:cubicBezTo>
                  <a:pt x="3613145" y="1574066"/>
                  <a:pt x="3579267" y="1607944"/>
                  <a:pt x="3537475" y="1607944"/>
                </a:cubicBezTo>
                <a:lnTo>
                  <a:pt x="75670" y="1607944"/>
                </a:lnTo>
                <a:cubicBezTo>
                  <a:pt x="33879" y="1607944"/>
                  <a:pt x="0" y="1574066"/>
                  <a:pt x="0" y="1532274"/>
                </a:cubicBezTo>
                <a:lnTo>
                  <a:pt x="0" y="75670"/>
                </a:lnTo>
                <a:cubicBezTo>
                  <a:pt x="0" y="33907"/>
                  <a:pt x="33907" y="0"/>
                  <a:pt x="756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23029" y="5251829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0" y="23646"/>
                </a:moveTo>
                <a:cubicBezTo>
                  <a:pt x="0" y="15813"/>
                  <a:pt x="6355" y="9458"/>
                  <a:pt x="14188" y="9458"/>
                </a:cubicBezTo>
                <a:lnTo>
                  <a:pt x="42563" y="9458"/>
                </a:lnTo>
                <a:cubicBezTo>
                  <a:pt x="50396" y="9458"/>
                  <a:pt x="56751" y="15813"/>
                  <a:pt x="56751" y="23646"/>
                </a:cubicBezTo>
                <a:lnTo>
                  <a:pt x="56751" y="28375"/>
                </a:lnTo>
                <a:lnTo>
                  <a:pt x="94585" y="28375"/>
                </a:lnTo>
                <a:lnTo>
                  <a:pt x="94585" y="23646"/>
                </a:lnTo>
                <a:cubicBezTo>
                  <a:pt x="94585" y="15813"/>
                  <a:pt x="100940" y="9458"/>
                  <a:pt x="108773" y="9458"/>
                </a:cubicBezTo>
                <a:lnTo>
                  <a:pt x="137148" y="9458"/>
                </a:lnTo>
                <a:cubicBezTo>
                  <a:pt x="144981" y="9458"/>
                  <a:pt x="151336" y="15813"/>
                  <a:pt x="151336" y="23646"/>
                </a:cubicBezTo>
                <a:lnTo>
                  <a:pt x="151336" y="52022"/>
                </a:lnTo>
                <a:cubicBezTo>
                  <a:pt x="151336" y="59855"/>
                  <a:pt x="144981" y="66209"/>
                  <a:pt x="137148" y="66209"/>
                </a:cubicBezTo>
                <a:lnTo>
                  <a:pt x="108773" y="66209"/>
                </a:lnTo>
                <a:cubicBezTo>
                  <a:pt x="100940" y="66209"/>
                  <a:pt x="94585" y="59855"/>
                  <a:pt x="94585" y="52022"/>
                </a:cubicBezTo>
                <a:lnTo>
                  <a:pt x="94585" y="47292"/>
                </a:lnTo>
                <a:lnTo>
                  <a:pt x="56751" y="47292"/>
                </a:lnTo>
                <a:lnTo>
                  <a:pt x="56751" y="52022"/>
                </a:lnTo>
                <a:cubicBezTo>
                  <a:pt x="56751" y="54179"/>
                  <a:pt x="56248" y="56248"/>
                  <a:pt x="55391" y="58081"/>
                </a:cubicBezTo>
                <a:lnTo>
                  <a:pt x="75668" y="85126"/>
                </a:lnTo>
                <a:lnTo>
                  <a:pt x="99314" y="85126"/>
                </a:lnTo>
                <a:cubicBezTo>
                  <a:pt x="107147" y="85126"/>
                  <a:pt x="113502" y="91481"/>
                  <a:pt x="113502" y="99314"/>
                </a:cubicBezTo>
                <a:lnTo>
                  <a:pt x="113502" y="127690"/>
                </a:lnTo>
                <a:cubicBezTo>
                  <a:pt x="113502" y="135522"/>
                  <a:pt x="107147" y="141877"/>
                  <a:pt x="99314" y="141877"/>
                </a:cubicBezTo>
                <a:lnTo>
                  <a:pt x="70939" y="141877"/>
                </a:lnTo>
                <a:cubicBezTo>
                  <a:pt x="63106" y="141877"/>
                  <a:pt x="56751" y="135522"/>
                  <a:pt x="56751" y="127690"/>
                </a:cubicBezTo>
                <a:lnTo>
                  <a:pt x="56751" y="99314"/>
                </a:lnTo>
                <a:cubicBezTo>
                  <a:pt x="56751" y="97156"/>
                  <a:pt x="57253" y="95087"/>
                  <a:pt x="58111" y="93255"/>
                </a:cubicBezTo>
                <a:lnTo>
                  <a:pt x="37834" y="66209"/>
                </a:lnTo>
                <a:lnTo>
                  <a:pt x="14188" y="66209"/>
                </a:lnTo>
                <a:cubicBezTo>
                  <a:pt x="6355" y="66209"/>
                  <a:pt x="0" y="59855"/>
                  <a:pt x="0" y="52022"/>
                </a:cubicBezTo>
                <a:lnTo>
                  <a:pt x="0" y="23646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3" name="Text 41"/>
          <p:cNvSpPr/>
          <p:nvPr/>
        </p:nvSpPr>
        <p:spPr>
          <a:xfrm>
            <a:off x="4593282" y="5213995"/>
            <a:ext cx="3272639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Space Overlap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04112" y="5516667"/>
            <a:ext cx="3452351" cy="107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high-dimensional medical data, benign and malignant cases often have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overlapping feature distributions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SMOTE's linear interpolation in these regions creates samples that lie in ambiguous decision regions, confusing the classifier.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51544" y="5100493"/>
            <a:ext cx="3613145" cy="1607944"/>
          </a:xfrm>
          <a:custGeom>
            <a:avLst/>
            <a:gdLst/>
            <a:ahLst/>
            <a:cxnLst/>
            <a:rect l="l" t="t" r="r" b="b"/>
            <a:pathLst>
              <a:path w="3613145" h="1607944">
                <a:moveTo>
                  <a:pt x="75670" y="0"/>
                </a:moveTo>
                <a:lnTo>
                  <a:pt x="3537475" y="0"/>
                </a:lnTo>
                <a:cubicBezTo>
                  <a:pt x="3579267" y="0"/>
                  <a:pt x="3613145" y="33879"/>
                  <a:pt x="3613145" y="75670"/>
                </a:cubicBezTo>
                <a:lnTo>
                  <a:pt x="3613145" y="1532274"/>
                </a:lnTo>
                <a:cubicBezTo>
                  <a:pt x="3613145" y="1574066"/>
                  <a:pt x="3579267" y="1607944"/>
                  <a:pt x="3537475" y="1607944"/>
                </a:cubicBezTo>
                <a:lnTo>
                  <a:pt x="75670" y="1607944"/>
                </a:lnTo>
                <a:cubicBezTo>
                  <a:pt x="33879" y="1607944"/>
                  <a:pt x="0" y="1574066"/>
                  <a:pt x="0" y="1532274"/>
                </a:cubicBezTo>
                <a:lnTo>
                  <a:pt x="0" y="75670"/>
                </a:lnTo>
                <a:cubicBezTo>
                  <a:pt x="0" y="33907"/>
                  <a:pt x="33907" y="0"/>
                  <a:pt x="756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183963" y="5251829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9458" y="18917"/>
                </a:moveTo>
                <a:cubicBezTo>
                  <a:pt x="5646" y="18917"/>
                  <a:pt x="2187" y="21222"/>
                  <a:pt x="709" y="24769"/>
                </a:cubicBezTo>
                <a:cubicBezTo>
                  <a:pt x="-769" y="28316"/>
                  <a:pt x="59" y="32366"/>
                  <a:pt x="2778" y="35056"/>
                </a:cubicBezTo>
                <a:lnTo>
                  <a:pt x="56751" y="89058"/>
                </a:lnTo>
                <a:lnTo>
                  <a:pt x="56751" y="122960"/>
                </a:lnTo>
                <a:cubicBezTo>
                  <a:pt x="56751" y="125473"/>
                  <a:pt x="57756" y="127867"/>
                  <a:pt x="59529" y="129640"/>
                </a:cubicBezTo>
                <a:lnTo>
                  <a:pt x="78446" y="148557"/>
                </a:lnTo>
                <a:cubicBezTo>
                  <a:pt x="81166" y="151277"/>
                  <a:pt x="85215" y="152075"/>
                  <a:pt x="88762" y="150597"/>
                </a:cubicBezTo>
                <a:cubicBezTo>
                  <a:pt x="92309" y="149119"/>
                  <a:pt x="94585" y="145690"/>
                  <a:pt x="94585" y="141877"/>
                </a:cubicBezTo>
                <a:lnTo>
                  <a:pt x="94585" y="89058"/>
                </a:lnTo>
                <a:lnTo>
                  <a:pt x="148557" y="35085"/>
                </a:lnTo>
                <a:cubicBezTo>
                  <a:pt x="151277" y="32366"/>
                  <a:pt x="152075" y="28316"/>
                  <a:pt x="150597" y="24769"/>
                </a:cubicBezTo>
                <a:cubicBezTo>
                  <a:pt x="149119" y="21222"/>
                  <a:pt x="145690" y="18917"/>
                  <a:pt x="141877" y="18917"/>
                </a:cubicBezTo>
                <a:lnTo>
                  <a:pt x="9458" y="18917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47" name="Text 45"/>
          <p:cNvSpPr/>
          <p:nvPr/>
        </p:nvSpPr>
        <p:spPr>
          <a:xfrm>
            <a:off x="8354216" y="5213995"/>
            <a:ext cx="3272639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Curse of Dimensionality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65046" y="5516667"/>
            <a:ext cx="3452351" cy="860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30 features and no selection, the model suffers from the 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curse of dimensionality</a:t>
            </a:r>
            <a:pPr>
              <a:lnSpc>
                <a:spcPct val="140000"/>
              </a:lnSpc>
            </a:pPr>
            <a:r>
              <a:rPr lang="en-US" sz="104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Irrelevant features add noise, increase computational complexity, and reduce generalization performance.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646" y="431575"/>
            <a:ext cx="431575" cy="35965"/>
          </a:xfrm>
          <a:custGeom>
            <a:avLst/>
            <a:gdLst/>
            <a:ahLst/>
            <a:cxnLst/>
            <a:rect l="l" t="t" r="r" b="b"/>
            <a:pathLst>
              <a:path w="431575" h="35965">
                <a:moveTo>
                  <a:pt x="0" y="0"/>
                </a:moveTo>
                <a:lnTo>
                  <a:pt x="431575" y="0"/>
                </a:lnTo>
                <a:lnTo>
                  <a:pt x="431575" y="35965"/>
                </a:lnTo>
                <a:lnTo>
                  <a:pt x="0" y="35965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899115" y="359646"/>
            <a:ext cx="1726301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b="1" spc="99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Phase IV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646" y="611398"/>
            <a:ext cx="11634549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9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Enhanced Framework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142" y="1119398"/>
            <a:ext cx="11463717" cy="827186"/>
          </a:xfrm>
          <a:custGeom>
            <a:avLst/>
            <a:gdLst/>
            <a:ahLst/>
            <a:cxnLst/>
            <a:rect l="l" t="t" r="r" b="b"/>
            <a:pathLst>
              <a:path w="11463717" h="827186">
                <a:moveTo>
                  <a:pt x="71932" y="0"/>
                </a:moveTo>
                <a:lnTo>
                  <a:pt x="11391785" y="0"/>
                </a:lnTo>
                <a:cubicBezTo>
                  <a:pt x="11431512" y="0"/>
                  <a:pt x="11463717" y="32205"/>
                  <a:pt x="11463717" y="71932"/>
                </a:cubicBezTo>
                <a:lnTo>
                  <a:pt x="11463717" y="755254"/>
                </a:lnTo>
                <a:cubicBezTo>
                  <a:pt x="11463717" y="794981"/>
                  <a:pt x="11431512" y="827186"/>
                  <a:pt x="11391785" y="827186"/>
                </a:cubicBezTo>
                <a:lnTo>
                  <a:pt x="71932" y="827186"/>
                </a:lnTo>
                <a:cubicBezTo>
                  <a:pt x="32232" y="827186"/>
                  <a:pt x="0" y="794954"/>
                  <a:pt x="0" y="755254"/>
                </a:cubicBezTo>
                <a:lnTo>
                  <a:pt x="0" y="71932"/>
                </a:lnTo>
                <a:cubicBezTo>
                  <a:pt x="0" y="32232"/>
                  <a:pt x="32232" y="0"/>
                  <a:pt x="71932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496" y="1267752"/>
            <a:ext cx="11247929" cy="53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4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 Objective:</a:t>
            </a:r>
            <a:pPr>
              <a:lnSpc>
                <a:spcPct val="140000"/>
              </a:lnSpc>
            </a:pPr>
            <a:r>
              <a:rPr lang="en-US" sz="1274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Address Phase III limitations by introducing a </a:t>
            </a:r>
            <a:pPr>
              <a:lnSpc>
                <a:spcPct val="140000"/>
              </a:lnSpc>
            </a:pPr>
            <a:r>
              <a:rPr lang="en-US" sz="1274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refined hybrid framework</a:t>
            </a:r>
            <a:pPr>
              <a:lnSpc>
                <a:spcPct val="140000"/>
              </a:lnSpc>
            </a:pPr>
            <a:r>
              <a:rPr lang="en-US" sz="1274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integrates feature selection, ADASYN adaptive oversampling, and cost-sensitive XGBoost to further reduce false negatives while maintaining stable classification performance.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7628" y="2090442"/>
            <a:ext cx="3686372" cy="2661381"/>
          </a:xfrm>
          <a:custGeom>
            <a:avLst/>
            <a:gdLst/>
            <a:ahLst/>
            <a:cxnLst/>
            <a:rect l="l" t="t" r="r" b="b"/>
            <a:pathLst>
              <a:path w="3686372" h="2661381">
                <a:moveTo>
                  <a:pt x="0" y="0"/>
                </a:moveTo>
                <a:lnTo>
                  <a:pt x="3614435" y="0"/>
                </a:lnTo>
                <a:cubicBezTo>
                  <a:pt x="3654164" y="0"/>
                  <a:pt x="3686372" y="32207"/>
                  <a:pt x="3686372" y="71937"/>
                </a:cubicBezTo>
                <a:lnTo>
                  <a:pt x="3686372" y="2589443"/>
                </a:lnTo>
                <a:cubicBezTo>
                  <a:pt x="3686372" y="2629173"/>
                  <a:pt x="3654164" y="2661381"/>
                  <a:pt x="3614435" y="2661381"/>
                </a:cubicBezTo>
                <a:lnTo>
                  <a:pt x="0" y="2661381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7628" y="2090442"/>
            <a:ext cx="35965" cy="2661381"/>
          </a:xfrm>
          <a:custGeom>
            <a:avLst/>
            <a:gdLst/>
            <a:ahLst/>
            <a:cxnLst/>
            <a:rect l="l" t="t" r="r" b="b"/>
            <a:pathLst>
              <a:path w="35965" h="2661381">
                <a:moveTo>
                  <a:pt x="0" y="0"/>
                </a:moveTo>
                <a:lnTo>
                  <a:pt x="35965" y="0"/>
                </a:lnTo>
                <a:lnTo>
                  <a:pt x="35965" y="2661381"/>
                </a:lnTo>
                <a:lnTo>
                  <a:pt x="0" y="2661381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9" name="Shape 7"/>
          <p:cNvSpPr/>
          <p:nvPr/>
        </p:nvSpPr>
        <p:spPr>
          <a:xfrm>
            <a:off x="539469" y="2234301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71931" y="0"/>
                </a:moveTo>
                <a:lnTo>
                  <a:pt x="359645" y="0"/>
                </a:lnTo>
                <a:cubicBezTo>
                  <a:pt x="399344" y="0"/>
                  <a:pt x="431575" y="32231"/>
                  <a:pt x="431575" y="71931"/>
                </a:cubicBezTo>
                <a:lnTo>
                  <a:pt x="431575" y="359645"/>
                </a:lnTo>
                <a:cubicBezTo>
                  <a:pt x="431575" y="399344"/>
                  <a:pt x="399344" y="431575"/>
                  <a:pt x="359645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7363" y="2342195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3487" y="26973"/>
                </a:moveTo>
                <a:cubicBezTo>
                  <a:pt x="8050" y="26973"/>
                  <a:pt x="3119" y="30261"/>
                  <a:pt x="1012" y="35318"/>
                </a:cubicBezTo>
                <a:cubicBezTo>
                  <a:pt x="-1096" y="40376"/>
                  <a:pt x="84" y="46150"/>
                  <a:pt x="3962" y="49985"/>
                </a:cubicBezTo>
                <a:lnTo>
                  <a:pt x="80920" y="126986"/>
                </a:lnTo>
                <a:lnTo>
                  <a:pt x="80920" y="175327"/>
                </a:lnTo>
                <a:cubicBezTo>
                  <a:pt x="80920" y="178910"/>
                  <a:pt x="82353" y="182324"/>
                  <a:pt x="84882" y="184852"/>
                </a:cubicBezTo>
                <a:lnTo>
                  <a:pt x="111856" y="211826"/>
                </a:lnTo>
                <a:cubicBezTo>
                  <a:pt x="115733" y="215703"/>
                  <a:pt x="121507" y="216841"/>
                  <a:pt x="126564" y="214734"/>
                </a:cubicBezTo>
                <a:cubicBezTo>
                  <a:pt x="131622" y="212627"/>
                  <a:pt x="134867" y="207738"/>
                  <a:pt x="134867" y="202301"/>
                </a:cubicBezTo>
                <a:lnTo>
                  <a:pt x="134867" y="126986"/>
                </a:lnTo>
                <a:lnTo>
                  <a:pt x="211826" y="50027"/>
                </a:lnTo>
                <a:cubicBezTo>
                  <a:pt x="215703" y="46150"/>
                  <a:pt x="216841" y="40376"/>
                  <a:pt x="214734" y="35318"/>
                </a:cubicBezTo>
                <a:cubicBezTo>
                  <a:pt x="212627" y="30261"/>
                  <a:pt x="207738" y="26973"/>
                  <a:pt x="202301" y="26973"/>
                </a:cubicBezTo>
                <a:lnTo>
                  <a:pt x="13487" y="26973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38" y="2324212"/>
            <a:ext cx="113288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69" y="2773770"/>
            <a:ext cx="346159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69" y="3133416"/>
            <a:ext cx="345260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SelectKBest with f_classif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69" y="3421133"/>
            <a:ext cx="345260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Retain only most informative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69" y="3717841"/>
            <a:ext cx="631628" cy="1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3327" y="3996566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Reduces dimensionality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327" y="4212354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Limits feature overlap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327" y="4428142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Prevents noise learning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3070" y="2090442"/>
            <a:ext cx="3686372" cy="2661381"/>
          </a:xfrm>
          <a:custGeom>
            <a:avLst/>
            <a:gdLst/>
            <a:ahLst/>
            <a:cxnLst/>
            <a:rect l="l" t="t" r="r" b="b"/>
            <a:pathLst>
              <a:path w="3686372" h="2661381">
                <a:moveTo>
                  <a:pt x="0" y="0"/>
                </a:moveTo>
                <a:lnTo>
                  <a:pt x="3614435" y="0"/>
                </a:lnTo>
                <a:cubicBezTo>
                  <a:pt x="3654164" y="0"/>
                  <a:pt x="3686372" y="32207"/>
                  <a:pt x="3686372" y="71937"/>
                </a:cubicBezTo>
                <a:lnTo>
                  <a:pt x="3686372" y="2589443"/>
                </a:lnTo>
                <a:cubicBezTo>
                  <a:pt x="3686372" y="2629173"/>
                  <a:pt x="3654164" y="2661381"/>
                  <a:pt x="3614435" y="2661381"/>
                </a:cubicBezTo>
                <a:lnTo>
                  <a:pt x="0" y="2661381"/>
                </a:lnTo>
                <a:lnTo>
                  <a:pt x="0" y="0"/>
                </a:ln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263070" y="2090442"/>
            <a:ext cx="35965" cy="2661381"/>
          </a:xfrm>
          <a:custGeom>
            <a:avLst/>
            <a:gdLst/>
            <a:ahLst/>
            <a:cxnLst/>
            <a:rect l="l" t="t" r="r" b="b"/>
            <a:pathLst>
              <a:path w="35965" h="2661381">
                <a:moveTo>
                  <a:pt x="0" y="0"/>
                </a:moveTo>
                <a:lnTo>
                  <a:pt x="35965" y="0"/>
                </a:lnTo>
                <a:lnTo>
                  <a:pt x="35965" y="2661381"/>
                </a:lnTo>
                <a:lnTo>
                  <a:pt x="0" y="2661381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4910" y="2234301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71931" y="0"/>
                </a:moveTo>
                <a:lnTo>
                  <a:pt x="359645" y="0"/>
                </a:lnTo>
                <a:cubicBezTo>
                  <a:pt x="399344" y="0"/>
                  <a:pt x="431575" y="32231"/>
                  <a:pt x="431575" y="71931"/>
                </a:cubicBezTo>
                <a:lnTo>
                  <a:pt x="431575" y="359645"/>
                </a:lnTo>
                <a:cubicBezTo>
                  <a:pt x="431575" y="399344"/>
                  <a:pt x="399344" y="431575"/>
                  <a:pt x="359645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32804" y="2342195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202343" y="80920"/>
                </a:moveTo>
                <a:lnTo>
                  <a:pt x="205673" y="80920"/>
                </a:lnTo>
                <a:cubicBezTo>
                  <a:pt x="211278" y="80920"/>
                  <a:pt x="215788" y="76411"/>
                  <a:pt x="215788" y="70805"/>
                </a:cubicBezTo>
                <a:lnTo>
                  <a:pt x="215788" y="10115"/>
                </a:lnTo>
                <a:cubicBezTo>
                  <a:pt x="215788" y="6027"/>
                  <a:pt x="213343" y="2318"/>
                  <a:pt x="209550" y="759"/>
                </a:cubicBezTo>
                <a:cubicBezTo>
                  <a:pt x="205757" y="-801"/>
                  <a:pt x="201416" y="84"/>
                  <a:pt x="198508" y="2950"/>
                </a:cubicBezTo>
                <a:lnTo>
                  <a:pt x="176718" y="24782"/>
                </a:lnTo>
                <a:cubicBezTo>
                  <a:pt x="158048" y="9314"/>
                  <a:pt x="134024" y="0"/>
                  <a:pt x="107894" y="0"/>
                </a:cubicBezTo>
                <a:cubicBezTo>
                  <a:pt x="53525" y="0"/>
                  <a:pt x="8556" y="40207"/>
                  <a:pt x="1096" y="92511"/>
                </a:cubicBezTo>
                <a:cubicBezTo>
                  <a:pt x="42" y="99886"/>
                  <a:pt x="5142" y="106714"/>
                  <a:pt x="12517" y="107767"/>
                </a:cubicBezTo>
                <a:cubicBezTo>
                  <a:pt x="19893" y="108821"/>
                  <a:pt x="26721" y="103679"/>
                  <a:pt x="27774" y="96346"/>
                </a:cubicBezTo>
                <a:cubicBezTo>
                  <a:pt x="33380" y="57108"/>
                  <a:pt x="67139" y="26973"/>
                  <a:pt x="107894" y="26973"/>
                </a:cubicBezTo>
                <a:cubicBezTo>
                  <a:pt x="126607" y="26973"/>
                  <a:pt x="143802" y="33295"/>
                  <a:pt x="157500" y="43958"/>
                </a:cubicBezTo>
                <a:lnTo>
                  <a:pt x="137817" y="63640"/>
                </a:lnTo>
                <a:cubicBezTo>
                  <a:pt x="134909" y="66549"/>
                  <a:pt x="134066" y="70890"/>
                  <a:pt x="135626" y="74683"/>
                </a:cubicBezTo>
                <a:cubicBezTo>
                  <a:pt x="137185" y="78476"/>
                  <a:pt x="140894" y="80920"/>
                  <a:pt x="144982" y="80920"/>
                </a:cubicBezTo>
                <a:lnTo>
                  <a:pt x="202343" y="80920"/>
                </a:lnTo>
                <a:close/>
                <a:moveTo>
                  <a:pt x="214734" y="123277"/>
                </a:moveTo>
                <a:cubicBezTo>
                  <a:pt x="215788" y="115902"/>
                  <a:pt x="210646" y="109074"/>
                  <a:pt x="203312" y="108020"/>
                </a:cubicBezTo>
                <a:cubicBezTo>
                  <a:pt x="195979" y="106967"/>
                  <a:pt x="189109" y="112108"/>
                  <a:pt x="188056" y="119442"/>
                </a:cubicBezTo>
                <a:cubicBezTo>
                  <a:pt x="182450" y="158638"/>
                  <a:pt x="148691" y="188772"/>
                  <a:pt x="107936" y="188772"/>
                </a:cubicBezTo>
                <a:cubicBezTo>
                  <a:pt x="89223" y="188772"/>
                  <a:pt x="72028" y="182450"/>
                  <a:pt x="58330" y="171787"/>
                </a:cubicBezTo>
                <a:lnTo>
                  <a:pt x="77970" y="152147"/>
                </a:lnTo>
                <a:cubicBezTo>
                  <a:pt x="80878" y="149239"/>
                  <a:pt x="81721" y="144898"/>
                  <a:pt x="80162" y="141105"/>
                </a:cubicBezTo>
                <a:cubicBezTo>
                  <a:pt x="78602" y="137312"/>
                  <a:pt x="74893" y="134867"/>
                  <a:pt x="70805" y="134867"/>
                </a:cubicBezTo>
                <a:lnTo>
                  <a:pt x="10115" y="134867"/>
                </a:lnTo>
                <a:cubicBezTo>
                  <a:pt x="4510" y="134867"/>
                  <a:pt x="0" y="139377"/>
                  <a:pt x="0" y="144982"/>
                </a:cubicBezTo>
                <a:lnTo>
                  <a:pt x="0" y="205673"/>
                </a:lnTo>
                <a:cubicBezTo>
                  <a:pt x="0" y="209761"/>
                  <a:pt x="2444" y="213470"/>
                  <a:pt x="6238" y="215029"/>
                </a:cubicBezTo>
                <a:cubicBezTo>
                  <a:pt x="10031" y="216588"/>
                  <a:pt x="14372" y="215703"/>
                  <a:pt x="17280" y="212837"/>
                </a:cubicBezTo>
                <a:lnTo>
                  <a:pt x="39112" y="191006"/>
                </a:lnTo>
                <a:cubicBezTo>
                  <a:pt x="57740" y="206473"/>
                  <a:pt x="81763" y="215788"/>
                  <a:pt x="107894" y="215788"/>
                </a:cubicBezTo>
                <a:cubicBezTo>
                  <a:pt x="162262" y="215788"/>
                  <a:pt x="207232" y="175580"/>
                  <a:pt x="214692" y="12327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3" name="Text 21"/>
          <p:cNvSpPr/>
          <p:nvPr/>
        </p:nvSpPr>
        <p:spPr>
          <a:xfrm>
            <a:off x="4964379" y="2324212"/>
            <a:ext cx="116885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24910" y="2773770"/>
            <a:ext cx="346159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 Oversampling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24910" y="3133416"/>
            <a:ext cx="345260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Replaces: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SMOTE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24910" y="3421133"/>
            <a:ext cx="345260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Adaptive sample generation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24910" y="3717841"/>
            <a:ext cx="631628" cy="1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8769" y="3996566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Focuses on hard cases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8769" y="4212354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Reduces synthetic noise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68769" y="4428142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Better decision boundaries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48511" y="2090442"/>
            <a:ext cx="3686372" cy="2661381"/>
          </a:xfrm>
          <a:custGeom>
            <a:avLst/>
            <a:gdLst/>
            <a:ahLst/>
            <a:cxnLst/>
            <a:rect l="l" t="t" r="r" b="b"/>
            <a:pathLst>
              <a:path w="3686372" h="2661381">
                <a:moveTo>
                  <a:pt x="0" y="0"/>
                </a:moveTo>
                <a:lnTo>
                  <a:pt x="3614435" y="0"/>
                </a:lnTo>
                <a:cubicBezTo>
                  <a:pt x="3654164" y="0"/>
                  <a:pt x="3686372" y="32207"/>
                  <a:pt x="3686372" y="71937"/>
                </a:cubicBezTo>
                <a:lnTo>
                  <a:pt x="3686372" y="2589443"/>
                </a:lnTo>
                <a:cubicBezTo>
                  <a:pt x="3686372" y="2629173"/>
                  <a:pt x="3654164" y="2661381"/>
                  <a:pt x="3614435" y="2661381"/>
                </a:cubicBezTo>
                <a:lnTo>
                  <a:pt x="0" y="2661381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148511" y="2090442"/>
            <a:ext cx="35965" cy="2661381"/>
          </a:xfrm>
          <a:custGeom>
            <a:avLst/>
            <a:gdLst/>
            <a:ahLst/>
            <a:cxnLst/>
            <a:rect l="l" t="t" r="r" b="b"/>
            <a:pathLst>
              <a:path w="35965" h="2661381">
                <a:moveTo>
                  <a:pt x="0" y="0"/>
                </a:moveTo>
                <a:lnTo>
                  <a:pt x="35965" y="0"/>
                </a:lnTo>
                <a:lnTo>
                  <a:pt x="35965" y="2661381"/>
                </a:lnTo>
                <a:lnTo>
                  <a:pt x="0" y="2661381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10352" y="2234301"/>
            <a:ext cx="431575" cy="431575"/>
          </a:xfrm>
          <a:custGeom>
            <a:avLst/>
            <a:gdLst/>
            <a:ahLst/>
            <a:cxnLst/>
            <a:rect l="l" t="t" r="r" b="b"/>
            <a:pathLst>
              <a:path w="431575" h="431575">
                <a:moveTo>
                  <a:pt x="71931" y="0"/>
                </a:moveTo>
                <a:lnTo>
                  <a:pt x="359645" y="0"/>
                </a:lnTo>
                <a:cubicBezTo>
                  <a:pt x="399344" y="0"/>
                  <a:pt x="431575" y="32231"/>
                  <a:pt x="431575" y="71931"/>
                </a:cubicBezTo>
                <a:lnTo>
                  <a:pt x="431575" y="359645"/>
                </a:lnTo>
                <a:cubicBezTo>
                  <a:pt x="431575" y="399344"/>
                  <a:pt x="399344" y="431575"/>
                  <a:pt x="359645" y="431575"/>
                </a:cubicBezTo>
                <a:lnTo>
                  <a:pt x="71931" y="431575"/>
                </a:lnTo>
                <a:cubicBezTo>
                  <a:pt x="32231" y="431575"/>
                  <a:pt x="0" y="399344"/>
                  <a:pt x="0" y="359645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91272" y="2342195"/>
            <a:ext cx="269735" cy="215788"/>
          </a:xfrm>
          <a:custGeom>
            <a:avLst/>
            <a:gdLst/>
            <a:ahLst/>
            <a:cxnLst/>
            <a:rect l="l" t="t" r="r" b="b"/>
            <a:pathLst>
              <a:path w="269735" h="215788">
                <a:moveTo>
                  <a:pt x="49817" y="26299"/>
                </a:moveTo>
                <a:cubicBezTo>
                  <a:pt x="42778" y="23939"/>
                  <a:pt x="38943" y="16268"/>
                  <a:pt x="41303" y="9230"/>
                </a:cubicBezTo>
                <a:cubicBezTo>
                  <a:pt x="43663" y="2192"/>
                  <a:pt x="51292" y="-1644"/>
                  <a:pt x="58372" y="674"/>
                </a:cubicBezTo>
                <a:lnTo>
                  <a:pt x="105997" y="16563"/>
                </a:lnTo>
                <a:cubicBezTo>
                  <a:pt x="111856" y="6659"/>
                  <a:pt x="122687" y="0"/>
                  <a:pt x="135036" y="0"/>
                </a:cubicBezTo>
                <a:cubicBezTo>
                  <a:pt x="153664" y="0"/>
                  <a:pt x="168753" y="15088"/>
                  <a:pt x="168753" y="33717"/>
                </a:cubicBezTo>
                <a:cubicBezTo>
                  <a:pt x="168753" y="34981"/>
                  <a:pt x="168668" y="36203"/>
                  <a:pt x="168542" y="37426"/>
                </a:cubicBezTo>
                <a:lnTo>
                  <a:pt x="220213" y="54663"/>
                </a:lnTo>
                <a:cubicBezTo>
                  <a:pt x="227293" y="57024"/>
                  <a:pt x="231087" y="64652"/>
                  <a:pt x="228726" y="71733"/>
                </a:cubicBezTo>
                <a:cubicBezTo>
                  <a:pt x="226366" y="78813"/>
                  <a:pt x="218738" y="82606"/>
                  <a:pt x="211657" y="80246"/>
                </a:cubicBezTo>
                <a:lnTo>
                  <a:pt x="154549" y="61196"/>
                </a:lnTo>
                <a:cubicBezTo>
                  <a:pt x="152653" y="62545"/>
                  <a:pt x="150630" y="63683"/>
                  <a:pt x="148480" y="64652"/>
                </a:cubicBezTo>
                <a:lnTo>
                  <a:pt x="148480" y="202343"/>
                </a:lnTo>
                <a:cubicBezTo>
                  <a:pt x="148480" y="209803"/>
                  <a:pt x="142454" y="215830"/>
                  <a:pt x="134994" y="215830"/>
                </a:cubicBezTo>
                <a:lnTo>
                  <a:pt x="54073" y="215830"/>
                </a:lnTo>
                <a:cubicBezTo>
                  <a:pt x="46613" y="215830"/>
                  <a:pt x="40587" y="209803"/>
                  <a:pt x="40587" y="202343"/>
                </a:cubicBezTo>
                <a:cubicBezTo>
                  <a:pt x="40587" y="194883"/>
                  <a:pt x="46613" y="188856"/>
                  <a:pt x="54073" y="188856"/>
                </a:cubicBezTo>
                <a:lnTo>
                  <a:pt x="121507" y="188856"/>
                </a:lnTo>
                <a:lnTo>
                  <a:pt x="121507" y="64652"/>
                </a:lnTo>
                <a:cubicBezTo>
                  <a:pt x="112656" y="60775"/>
                  <a:pt x="105829" y="53273"/>
                  <a:pt x="102878" y="44000"/>
                </a:cubicBezTo>
                <a:lnTo>
                  <a:pt x="49817" y="26299"/>
                </a:lnTo>
                <a:close/>
                <a:moveTo>
                  <a:pt x="84629" y="121381"/>
                </a:moveTo>
                <a:lnTo>
                  <a:pt x="54073" y="69035"/>
                </a:lnTo>
                <a:lnTo>
                  <a:pt x="23560" y="121381"/>
                </a:lnTo>
                <a:lnTo>
                  <a:pt x="84629" y="121381"/>
                </a:lnTo>
                <a:close/>
                <a:moveTo>
                  <a:pt x="54115" y="161841"/>
                </a:moveTo>
                <a:cubicBezTo>
                  <a:pt x="27606" y="161841"/>
                  <a:pt x="5563" y="147511"/>
                  <a:pt x="1012" y="128588"/>
                </a:cubicBezTo>
                <a:cubicBezTo>
                  <a:pt x="-84" y="123951"/>
                  <a:pt x="1433" y="119189"/>
                  <a:pt x="3835" y="115059"/>
                </a:cubicBezTo>
                <a:lnTo>
                  <a:pt x="43958" y="46276"/>
                </a:lnTo>
                <a:cubicBezTo>
                  <a:pt x="46066" y="42652"/>
                  <a:pt x="49943" y="40460"/>
                  <a:pt x="54115" y="40460"/>
                </a:cubicBezTo>
                <a:cubicBezTo>
                  <a:pt x="58288" y="40460"/>
                  <a:pt x="62165" y="42694"/>
                  <a:pt x="64273" y="46276"/>
                </a:cubicBezTo>
                <a:lnTo>
                  <a:pt x="104396" y="115059"/>
                </a:lnTo>
                <a:cubicBezTo>
                  <a:pt x="106798" y="119189"/>
                  <a:pt x="108315" y="123951"/>
                  <a:pt x="107219" y="128588"/>
                </a:cubicBezTo>
                <a:cubicBezTo>
                  <a:pt x="102668" y="147469"/>
                  <a:pt x="80625" y="161841"/>
                  <a:pt x="54115" y="161841"/>
                </a:cubicBezTo>
                <a:close/>
                <a:moveTo>
                  <a:pt x="215450" y="122982"/>
                </a:moveTo>
                <a:lnTo>
                  <a:pt x="184937" y="175327"/>
                </a:lnTo>
                <a:lnTo>
                  <a:pt x="246006" y="175327"/>
                </a:lnTo>
                <a:lnTo>
                  <a:pt x="215493" y="122982"/>
                </a:lnTo>
                <a:close/>
                <a:moveTo>
                  <a:pt x="268554" y="182534"/>
                </a:moveTo>
                <a:cubicBezTo>
                  <a:pt x="264003" y="201458"/>
                  <a:pt x="241960" y="215788"/>
                  <a:pt x="215450" y="215788"/>
                </a:cubicBezTo>
                <a:cubicBezTo>
                  <a:pt x="188941" y="215788"/>
                  <a:pt x="166898" y="201458"/>
                  <a:pt x="162346" y="182534"/>
                </a:cubicBezTo>
                <a:cubicBezTo>
                  <a:pt x="161251" y="177898"/>
                  <a:pt x="162768" y="173136"/>
                  <a:pt x="165170" y="169006"/>
                </a:cubicBezTo>
                <a:lnTo>
                  <a:pt x="205293" y="100223"/>
                </a:lnTo>
                <a:cubicBezTo>
                  <a:pt x="207401" y="96599"/>
                  <a:pt x="211278" y="94407"/>
                  <a:pt x="215450" y="94407"/>
                </a:cubicBezTo>
                <a:cubicBezTo>
                  <a:pt x="219623" y="94407"/>
                  <a:pt x="223500" y="96641"/>
                  <a:pt x="225608" y="100223"/>
                </a:cubicBezTo>
                <a:lnTo>
                  <a:pt x="265731" y="169006"/>
                </a:lnTo>
                <a:cubicBezTo>
                  <a:pt x="268133" y="173136"/>
                  <a:pt x="269650" y="177898"/>
                  <a:pt x="268554" y="18253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5" name="Text 33"/>
          <p:cNvSpPr/>
          <p:nvPr/>
        </p:nvSpPr>
        <p:spPr>
          <a:xfrm>
            <a:off x="8849821" y="2324212"/>
            <a:ext cx="116885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10352" y="2773770"/>
            <a:ext cx="346159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Cost-Sensitive XGBoost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10352" y="3133416"/>
            <a:ext cx="345260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scale_pos_weight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10352" y="3421133"/>
            <a:ext cx="345260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1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Penalize FN heavily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10352" y="3717841"/>
            <a:ext cx="631628" cy="1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54210" y="3996566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Prioritizes malignant cases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54210" y="4212354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Improves sensitivity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54210" y="4428142"/>
            <a:ext cx="3299752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Clinical safety focus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59646" y="4895681"/>
            <a:ext cx="11472708" cy="1960071"/>
          </a:xfrm>
          <a:custGeom>
            <a:avLst/>
            <a:gdLst/>
            <a:ahLst/>
            <a:cxnLst/>
            <a:rect l="l" t="t" r="r" b="b"/>
            <a:pathLst>
              <a:path w="11472708" h="1960071">
                <a:moveTo>
                  <a:pt x="71935" y="0"/>
                </a:moveTo>
                <a:lnTo>
                  <a:pt x="11400773" y="0"/>
                </a:lnTo>
                <a:cubicBezTo>
                  <a:pt x="11440502" y="0"/>
                  <a:pt x="11472708" y="32206"/>
                  <a:pt x="11472708" y="71935"/>
                </a:cubicBezTo>
                <a:lnTo>
                  <a:pt x="11472708" y="1888136"/>
                </a:lnTo>
                <a:cubicBezTo>
                  <a:pt x="11472708" y="1927865"/>
                  <a:pt x="11440502" y="1960071"/>
                  <a:pt x="11400773" y="1960071"/>
                </a:cubicBezTo>
                <a:lnTo>
                  <a:pt x="71935" y="1960071"/>
                </a:lnTo>
                <a:cubicBezTo>
                  <a:pt x="32206" y="1960071"/>
                  <a:pt x="0" y="1927865"/>
                  <a:pt x="0" y="1888136"/>
                </a:cubicBezTo>
                <a:lnTo>
                  <a:pt x="0" y="71935"/>
                </a:lnTo>
                <a:cubicBezTo>
                  <a:pt x="0" y="32233"/>
                  <a:pt x="32233" y="0"/>
                  <a:pt x="7193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03504" y="5039540"/>
            <a:ext cx="1127490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Phase IV Addresses Phase III Limitations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3504" y="5399186"/>
            <a:ext cx="5520566" cy="611398"/>
          </a:xfrm>
          <a:custGeom>
            <a:avLst/>
            <a:gdLst/>
            <a:ahLst/>
            <a:cxnLst/>
            <a:rect l="l" t="t" r="r" b="b"/>
            <a:pathLst>
              <a:path w="5520566" h="611398">
                <a:moveTo>
                  <a:pt x="71931" y="0"/>
                </a:moveTo>
                <a:lnTo>
                  <a:pt x="5448635" y="0"/>
                </a:lnTo>
                <a:cubicBezTo>
                  <a:pt x="5488362" y="0"/>
                  <a:pt x="5520566" y="32205"/>
                  <a:pt x="5520566" y="71931"/>
                </a:cubicBezTo>
                <a:lnTo>
                  <a:pt x="5520566" y="539467"/>
                </a:lnTo>
                <a:cubicBezTo>
                  <a:pt x="5520566" y="579194"/>
                  <a:pt x="5488362" y="611398"/>
                  <a:pt x="5448635" y="611398"/>
                </a:cubicBezTo>
                <a:lnTo>
                  <a:pt x="71931" y="611398"/>
                </a:lnTo>
                <a:cubicBezTo>
                  <a:pt x="32231" y="611398"/>
                  <a:pt x="0" y="579167"/>
                  <a:pt x="0" y="539467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9381" y="5543044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71929" y="143858"/>
                </a:moveTo>
                <a:cubicBezTo>
                  <a:pt x="111628" y="143858"/>
                  <a:pt x="143858" y="111628"/>
                  <a:pt x="143858" y="71929"/>
                </a:cubicBezTo>
                <a:cubicBezTo>
                  <a:pt x="143858" y="32230"/>
                  <a:pt x="111628" y="0"/>
                  <a:pt x="71929" y="0"/>
                </a:cubicBezTo>
                <a:cubicBezTo>
                  <a:pt x="32230" y="0"/>
                  <a:pt x="0" y="32230"/>
                  <a:pt x="0" y="71929"/>
                </a:cubicBezTo>
                <a:cubicBezTo>
                  <a:pt x="0" y="111628"/>
                  <a:pt x="32230" y="143858"/>
                  <a:pt x="71929" y="143858"/>
                </a:cubicBezTo>
                <a:close/>
                <a:moveTo>
                  <a:pt x="46923" y="46923"/>
                </a:moveTo>
                <a:cubicBezTo>
                  <a:pt x="49564" y="44281"/>
                  <a:pt x="53835" y="44281"/>
                  <a:pt x="56448" y="46923"/>
                </a:cubicBezTo>
                <a:lnTo>
                  <a:pt x="71901" y="62376"/>
                </a:lnTo>
                <a:lnTo>
                  <a:pt x="87355" y="46923"/>
                </a:lnTo>
                <a:cubicBezTo>
                  <a:pt x="89996" y="44281"/>
                  <a:pt x="94267" y="44281"/>
                  <a:pt x="96880" y="46923"/>
                </a:cubicBezTo>
                <a:cubicBezTo>
                  <a:pt x="99493" y="49564"/>
                  <a:pt x="99521" y="53835"/>
                  <a:pt x="96880" y="56448"/>
                </a:cubicBezTo>
                <a:lnTo>
                  <a:pt x="81426" y="71901"/>
                </a:lnTo>
                <a:lnTo>
                  <a:pt x="96880" y="87355"/>
                </a:lnTo>
                <a:cubicBezTo>
                  <a:pt x="99521" y="89996"/>
                  <a:pt x="99521" y="94267"/>
                  <a:pt x="96880" y="96880"/>
                </a:cubicBezTo>
                <a:cubicBezTo>
                  <a:pt x="94238" y="99493"/>
                  <a:pt x="89968" y="99521"/>
                  <a:pt x="87355" y="96880"/>
                </a:cubicBezTo>
                <a:lnTo>
                  <a:pt x="71901" y="81426"/>
                </a:lnTo>
                <a:lnTo>
                  <a:pt x="56448" y="96880"/>
                </a:lnTo>
                <a:cubicBezTo>
                  <a:pt x="53806" y="99521"/>
                  <a:pt x="49536" y="99521"/>
                  <a:pt x="46923" y="96880"/>
                </a:cubicBezTo>
                <a:cubicBezTo>
                  <a:pt x="44310" y="94238"/>
                  <a:pt x="44281" y="89968"/>
                  <a:pt x="46923" y="87355"/>
                </a:cubicBezTo>
                <a:lnTo>
                  <a:pt x="62376" y="71901"/>
                </a:lnTo>
                <a:lnTo>
                  <a:pt x="46923" y="56448"/>
                </a:lnTo>
                <a:cubicBezTo>
                  <a:pt x="44281" y="53806"/>
                  <a:pt x="44281" y="49536"/>
                  <a:pt x="46923" y="4692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7" name="Text 45"/>
          <p:cNvSpPr/>
          <p:nvPr/>
        </p:nvSpPr>
        <p:spPr>
          <a:xfrm>
            <a:off x="899115" y="5507080"/>
            <a:ext cx="313791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Issue: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9115" y="5722867"/>
            <a:ext cx="3128920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generates samples uniformly → synthetic noise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8000" y="6087009"/>
            <a:ext cx="5511575" cy="620389"/>
          </a:xfrm>
          <a:custGeom>
            <a:avLst/>
            <a:gdLst/>
            <a:ahLst/>
            <a:cxnLst/>
            <a:rect l="l" t="t" r="r" b="b"/>
            <a:pathLst>
              <a:path w="5511575" h="620389">
                <a:moveTo>
                  <a:pt x="71928" y="0"/>
                </a:moveTo>
                <a:lnTo>
                  <a:pt x="5439647" y="0"/>
                </a:lnTo>
                <a:cubicBezTo>
                  <a:pt x="5479372" y="0"/>
                  <a:pt x="5511575" y="32203"/>
                  <a:pt x="5511575" y="71928"/>
                </a:cubicBezTo>
                <a:lnTo>
                  <a:pt x="5511575" y="548461"/>
                </a:lnTo>
                <a:cubicBezTo>
                  <a:pt x="5511575" y="588186"/>
                  <a:pt x="5479372" y="620389"/>
                  <a:pt x="5439647" y="620389"/>
                </a:cubicBezTo>
                <a:lnTo>
                  <a:pt x="71928" y="620389"/>
                </a:lnTo>
                <a:cubicBezTo>
                  <a:pt x="32230" y="620389"/>
                  <a:pt x="0" y="588160"/>
                  <a:pt x="0" y="548461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8372" y="6235363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71929" y="143858"/>
                </a:moveTo>
                <a:cubicBezTo>
                  <a:pt x="111628" y="143858"/>
                  <a:pt x="143858" y="111628"/>
                  <a:pt x="143858" y="71929"/>
                </a:cubicBezTo>
                <a:cubicBezTo>
                  <a:pt x="143858" y="32230"/>
                  <a:pt x="111628" y="0"/>
                  <a:pt x="71929" y="0"/>
                </a:cubicBezTo>
                <a:cubicBezTo>
                  <a:pt x="32230" y="0"/>
                  <a:pt x="0" y="32230"/>
                  <a:pt x="0" y="71929"/>
                </a:cubicBezTo>
                <a:cubicBezTo>
                  <a:pt x="0" y="111628"/>
                  <a:pt x="32230" y="143858"/>
                  <a:pt x="71929" y="143858"/>
                </a:cubicBezTo>
                <a:close/>
                <a:moveTo>
                  <a:pt x="95643" y="59763"/>
                </a:moveTo>
                <a:lnTo>
                  <a:pt x="73165" y="95728"/>
                </a:lnTo>
                <a:cubicBezTo>
                  <a:pt x="71985" y="97610"/>
                  <a:pt x="69962" y="98790"/>
                  <a:pt x="67743" y="98903"/>
                </a:cubicBezTo>
                <a:cubicBezTo>
                  <a:pt x="65523" y="99015"/>
                  <a:pt x="63388" y="98004"/>
                  <a:pt x="62067" y="96205"/>
                </a:cubicBezTo>
                <a:lnTo>
                  <a:pt x="48580" y="78223"/>
                </a:lnTo>
                <a:cubicBezTo>
                  <a:pt x="46333" y="75245"/>
                  <a:pt x="46951" y="71030"/>
                  <a:pt x="49929" y="68782"/>
                </a:cubicBezTo>
                <a:cubicBezTo>
                  <a:pt x="52907" y="66535"/>
                  <a:pt x="57122" y="67153"/>
                  <a:pt x="59370" y="70131"/>
                </a:cubicBezTo>
                <a:lnTo>
                  <a:pt x="66956" y="80246"/>
                </a:lnTo>
                <a:lnTo>
                  <a:pt x="84208" y="52626"/>
                </a:lnTo>
                <a:cubicBezTo>
                  <a:pt x="86175" y="49479"/>
                  <a:pt x="90333" y="48496"/>
                  <a:pt x="93508" y="50491"/>
                </a:cubicBezTo>
                <a:cubicBezTo>
                  <a:pt x="96683" y="52486"/>
                  <a:pt x="97638" y="56616"/>
                  <a:pt x="95643" y="5979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1" name="Text 49"/>
          <p:cNvSpPr/>
          <p:nvPr/>
        </p:nvSpPr>
        <p:spPr>
          <a:xfrm>
            <a:off x="908106" y="6199398"/>
            <a:ext cx="278725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 Solution: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8106" y="6415186"/>
            <a:ext cx="2778265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 focuses on hard cases → reduced noise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69896" y="5399186"/>
            <a:ext cx="5520566" cy="611398"/>
          </a:xfrm>
          <a:custGeom>
            <a:avLst/>
            <a:gdLst/>
            <a:ahLst/>
            <a:cxnLst/>
            <a:rect l="l" t="t" r="r" b="b"/>
            <a:pathLst>
              <a:path w="5520566" h="611398">
                <a:moveTo>
                  <a:pt x="71931" y="0"/>
                </a:moveTo>
                <a:lnTo>
                  <a:pt x="5448635" y="0"/>
                </a:lnTo>
                <a:cubicBezTo>
                  <a:pt x="5488362" y="0"/>
                  <a:pt x="5520566" y="32205"/>
                  <a:pt x="5520566" y="71931"/>
                </a:cubicBezTo>
                <a:lnTo>
                  <a:pt x="5520566" y="539467"/>
                </a:lnTo>
                <a:cubicBezTo>
                  <a:pt x="5520566" y="579194"/>
                  <a:pt x="5488362" y="611398"/>
                  <a:pt x="5448635" y="611398"/>
                </a:cubicBezTo>
                <a:lnTo>
                  <a:pt x="71931" y="611398"/>
                </a:lnTo>
                <a:cubicBezTo>
                  <a:pt x="32231" y="611398"/>
                  <a:pt x="0" y="579167"/>
                  <a:pt x="0" y="539467"/>
                </a:cubicBezTo>
                <a:lnTo>
                  <a:pt x="0" y="71931"/>
                </a:lnTo>
                <a:cubicBezTo>
                  <a:pt x="0" y="32231"/>
                  <a:pt x="32231" y="0"/>
                  <a:pt x="7193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95772" y="5543044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71929" y="143858"/>
                </a:moveTo>
                <a:cubicBezTo>
                  <a:pt x="111628" y="143858"/>
                  <a:pt x="143858" y="111628"/>
                  <a:pt x="143858" y="71929"/>
                </a:cubicBezTo>
                <a:cubicBezTo>
                  <a:pt x="143858" y="32230"/>
                  <a:pt x="111628" y="0"/>
                  <a:pt x="71929" y="0"/>
                </a:cubicBezTo>
                <a:cubicBezTo>
                  <a:pt x="32230" y="0"/>
                  <a:pt x="0" y="32230"/>
                  <a:pt x="0" y="71929"/>
                </a:cubicBezTo>
                <a:cubicBezTo>
                  <a:pt x="0" y="111628"/>
                  <a:pt x="32230" y="143858"/>
                  <a:pt x="71929" y="143858"/>
                </a:cubicBezTo>
                <a:close/>
                <a:moveTo>
                  <a:pt x="46923" y="46923"/>
                </a:moveTo>
                <a:cubicBezTo>
                  <a:pt x="49564" y="44281"/>
                  <a:pt x="53835" y="44281"/>
                  <a:pt x="56448" y="46923"/>
                </a:cubicBezTo>
                <a:lnTo>
                  <a:pt x="71901" y="62376"/>
                </a:lnTo>
                <a:lnTo>
                  <a:pt x="87355" y="46923"/>
                </a:lnTo>
                <a:cubicBezTo>
                  <a:pt x="89996" y="44281"/>
                  <a:pt x="94267" y="44281"/>
                  <a:pt x="96880" y="46923"/>
                </a:cubicBezTo>
                <a:cubicBezTo>
                  <a:pt x="99493" y="49564"/>
                  <a:pt x="99521" y="53835"/>
                  <a:pt x="96880" y="56448"/>
                </a:cubicBezTo>
                <a:lnTo>
                  <a:pt x="81426" y="71901"/>
                </a:lnTo>
                <a:lnTo>
                  <a:pt x="96880" y="87355"/>
                </a:lnTo>
                <a:cubicBezTo>
                  <a:pt x="99521" y="89996"/>
                  <a:pt x="99521" y="94267"/>
                  <a:pt x="96880" y="96880"/>
                </a:cubicBezTo>
                <a:cubicBezTo>
                  <a:pt x="94238" y="99493"/>
                  <a:pt x="89968" y="99521"/>
                  <a:pt x="87355" y="96880"/>
                </a:cubicBezTo>
                <a:lnTo>
                  <a:pt x="71901" y="81426"/>
                </a:lnTo>
                <a:lnTo>
                  <a:pt x="56448" y="96880"/>
                </a:lnTo>
                <a:cubicBezTo>
                  <a:pt x="53806" y="99521"/>
                  <a:pt x="49536" y="99521"/>
                  <a:pt x="46923" y="96880"/>
                </a:cubicBezTo>
                <a:cubicBezTo>
                  <a:pt x="44310" y="94238"/>
                  <a:pt x="44281" y="89968"/>
                  <a:pt x="46923" y="87355"/>
                </a:cubicBezTo>
                <a:lnTo>
                  <a:pt x="62376" y="71901"/>
                </a:lnTo>
                <a:lnTo>
                  <a:pt x="46923" y="56448"/>
                </a:lnTo>
                <a:cubicBezTo>
                  <a:pt x="44281" y="53806"/>
                  <a:pt x="44281" y="49536"/>
                  <a:pt x="46923" y="4692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5" name="Text 53"/>
          <p:cNvSpPr/>
          <p:nvPr/>
        </p:nvSpPr>
        <p:spPr>
          <a:xfrm>
            <a:off x="6565507" y="5507080"/>
            <a:ext cx="286817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Issue: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65507" y="5722867"/>
            <a:ext cx="285918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features used → noise from irrelevant attributes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4392" y="6087009"/>
            <a:ext cx="5511575" cy="620389"/>
          </a:xfrm>
          <a:custGeom>
            <a:avLst/>
            <a:gdLst/>
            <a:ahLst/>
            <a:cxnLst/>
            <a:rect l="l" t="t" r="r" b="b"/>
            <a:pathLst>
              <a:path w="5511575" h="620389">
                <a:moveTo>
                  <a:pt x="71928" y="0"/>
                </a:moveTo>
                <a:lnTo>
                  <a:pt x="5439647" y="0"/>
                </a:lnTo>
                <a:cubicBezTo>
                  <a:pt x="5479372" y="0"/>
                  <a:pt x="5511575" y="32203"/>
                  <a:pt x="5511575" y="71928"/>
                </a:cubicBezTo>
                <a:lnTo>
                  <a:pt x="5511575" y="548461"/>
                </a:lnTo>
                <a:cubicBezTo>
                  <a:pt x="5511575" y="588186"/>
                  <a:pt x="5479372" y="620389"/>
                  <a:pt x="5439647" y="620389"/>
                </a:cubicBezTo>
                <a:lnTo>
                  <a:pt x="71928" y="620389"/>
                </a:lnTo>
                <a:cubicBezTo>
                  <a:pt x="32230" y="620389"/>
                  <a:pt x="0" y="588160"/>
                  <a:pt x="0" y="548461"/>
                </a:cubicBezTo>
                <a:lnTo>
                  <a:pt x="0" y="71928"/>
                </a:lnTo>
                <a:cubicBezTo>
                  <a:pt x="0" y="32230"/>
                  <a:pt x="32230" y="0"/>
                  <a:pt x="71928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4763" y="6235363"/>
            <a:ext cx="143858" cy="143858"/>
          </a:xfrm>
          <a:custGeom>
            <a:avLst/>
            <a:gdLst/>
            <a:ahLst/>
            <a:cxnLst/>
            <a:rect l="l" t="t" r="r" b="b"/>
            <a:pathLst>
              <a:path w="143858" h="143858">
                <a:moveTo>
                  <a:pt x="71929" y="143858"/>
                </a:moveTo>
                <a:cubicBezTo>
                  <a:pt x="111628" y="143858"/>
                  <a:pt x="143858" y="111628"/>
                  <a:pt x="143858" y="71929"/>
                </a:cubicBezTo>
                <a:cubicBezTo>
                  <a:pt x="143858" y="32230"/>
                  <a:pt x="111628" y="0"/>
                  <a:pt x="71929" y="0"/>
                </a:cubicBezTo>
                <a:cubicBezTo>
                  <a:pt x="32230" y="0"/>
                  <a:pt x="0" y="32230"/>
                  <a:pt x="0" y="71929"/>
                </a:cubicBezTo>
                <a:cubicBezTo>
                  <a:pt x="0" y="111628"/>
                  <a:pt x="32230" y="143858"/>
                  <a:pt x="71929" y="143858"/>
                </a:cubicBezTo>
                <a:close/>
                <a:moveTo>
                  <a:pt x="95643" y="59763"/>
                </a:moveTo>
                <a:lnTo>
                  <a:pt x="73165" y="95728"/>
                </a:lnTo>
                <a:cubicBezTo>
                  <a:pt x="71985" y="97610"/>
                  <a:pt x="69962" y="98790"/>
                  <a:pt x="67743" y="98903"/>
                </a:cubicBezTo>
                <a:cubicBezTo>
                  <a:pt x="65523" y="99015"/>
                  <a:pt x="63388" y="98004"/>
                  <a:pt x="62067" y="96205"/>
                </a:cubicBezTo>
                <a:lnTo>
                  <a:pt x="48580" y="78223"/>
                </a:lnTo>
                <a:cubicBezTo>
                  <a:pt x="46333" y="75245"/>
                  <a:pt x="46951" y="71030"/>
                  <a:pt x="49929" y="68782"/>
                </a:cubicBezTo>
                <a:cubicBezTo>
                  <a:pt x="52907" y="66535"/>
                  <a:pt x="57122" y="67153"/>
                  <a:pt x="59370" y="70131"/>
                </a:cubicBezTo>
                <a:lnTo>
                  <a:pt x="66956" y="80246"/>
                </a:lnTo>
                <a:lnTo>
                  <a:pt x="84208" y="52626"/>
                </a:lnTo>
                <a:cubicBezTo>
                  <a:pt x="86175" y="49479"/>
                  <a:pt x="90333" y="48496"/>
                  <a:pt x="93508" y="50491"/>
                </a:cubicBezTo>
                <a:cubicBezTo>
                  <a:pt x="96683" y="52486"/>
                  <a:pt x="97638" y="56616"/>
                  <a:pt x="95643" y="5979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9" name="Text 57"/>
          <p:cNvSpPr/>
          <p:nvPr/>
        </p:nvSpPr>
        <p:spPr>
          <a:xfrm>
            <a:off x="6574498" y="6199398"/>
            <a:ext cx="3254796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 Solution: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574498" y="6415186"/>
            <a:ext cx="3245805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SelectKBest feature selection → only informative features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407" y="396488"/>
            <a:ext cx="396488" cy="33041"/>
          </a:xfrm>
          <a:custGeom>
            <a:avLst/>
            <a:gdLst/>
            <a:ahLst/>
            <a:cxnLst/>
            <a:rect l="l" t="t" r="r" b="b"/>
            <a:pathLst>
              <a:path w="396488" h="33041">
                <a:moveTo>
                  <a:pt x="0" y="0"/>
                </a:moveTo>
                <a:lnTo>
                  <a:pt x="396488" y="0"/>
                </a:lnTo>
                <a:lnTo>
                  <a:pt x="396488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826016" y="330407"/>
            <a:ext cx="231284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spc="91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06. Mathematical Foundations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407" y="561691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ADASYN: Adaptive Synthetic Sampling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927" y="1024260"/>
            <a:ext cx="5649951" cy="3700553"/>
          </a:xfrm>
          <a:custGeom>
            <a:avLst/>
            <a:gdLst/>
            <a:ahLst/>
            <a:cxnLst/>
            <a:rect l="l" t="t" r="r" b="b"/>
            <a:pathLst>
              <a:path w="5649951" h="3700553">
                <a:moveTo>
                  <a:pt x="0" y="0"/>
                </a:moveTo>
                <a:lnTo>
                  <a:pt x="5583859" y="0"/>
                </a:lnTo>
                <a:cubicBezTo>
                  <a:pt x="5620361" y="0"/>
                  <a:pt x="5649951" y="29590"/>
                  <a:pt x="5649951" y="66092"/>
                </a:cubicBezTo>
                <a:lnTo>
                  <a:pt x="5649951" y="3634461"/>
                </a:lnTo>
                <a:cubicBezTo>
                  <a:pt x="5649951" y="3670963"/>
                  <a:pt x="5620361" y="3700553"/>
                  <a:pt x="5583859" y="3700553"/>
                </a:cubicBezTo>
                <a:lnTo>
                  <a:pt x="0" y="370055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6927" y="1024260"/>
            <a:ext cx="33041" cy="3700553"/>
          </a:xfrm>
          <a:custGeom>
            <a:avLst/>
            <a:gdLst/>
            <a:ahLst/>
            <a:cxnLst/>
            <a:rect l="l" t="t" r="r" b="b"/>
            <a:pathLst>
              <a:path w="33041" h="3700553">
                <a:moveTo>
                  <a:pt x="0" y="0"/>
                </a:moveTo>
                <a:lnTo>
                  <a:pt x="33041" y="0"/>
                </a:lnTo>
                <a:lnTo>
                  <a:pt x="33041" y="3700553"/>
                </a:lnTo>
                <a:lnTo>
                  <a:pt x="0" y="3700553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Shape 5"/>
          <p:cNvSpPr/>
          <p:nvPr/>
        </p:nvSpPr>
        <p:spPr>
          <a:xfrm>
            <a:off x="536911" y="1189463"/>
            <a:ext cx="123902" cy="165203"/>
          </a:xfrm>
          <a:custGeom>
            <a:avLst/>
            <a:gdLst/>
            <a:ahLst/>
            <a:cxnLst/>
            <a:rect l="l" t="t" r="r" b="b"/>
            <a:pathLst>
              <a:path w="123902" h="165203">
                <a:moveTo>
                  <a:pt x="20650" y="0"/>
                </a:moveTo>
                <a:cubicBezTo>
                  <a:pt x="9260" y="0"/>
                  <a:pt x="0" y="9260"/>
                  <a:pt x="0" y="20650"/>
                </a:cubicBezTo>
                <a:lnTo>
                  <a:pt x="0" y="144553"/>
                </a:lnTo>
                <a:cubicBezTo>
                  <a:pt x="0" y="155943"/>
                  <a:pt x="9260" y="165203"/>
                  <a:pt x="20650" y="165203"/>
                </a:cubicBezTo>
                <a:lnTo>
                  <a:pt x="103252" y="165203"/>
                </a:lnTo>
                <a:cubicBezTo>
                  <a:pt x="114642" y="165203"/>
                  <a:pt x="123902" y="155943"/>
                  <a:pt x="123902" y="144553"/>
                </a:cubicBezTo>
                <a:lnTo>
                  <a:pt x="123902" y="20650"/>
                </a:lnTo>
                <a:cubicBezTo>
                  <a:pt x="123902" y="9260"/>
                  <a:pt x="114642" y="0"/>
                  <a:pt x="103252" y="0"/>
                </a:cubicBezTo>
                <a:lnTo>
                  <a:pt x="20650" y="0"/>
                </a:lnTo>
                <a:close/>
                <a:moveTo>
                  <a:pt x="30976" y="20650"/>
                </a:moveTo>
                <a:lnTo>
                  <a:pt x="92927" y="20650"/>
                </a:lnTo>
                <a:cubicBezTo>
                  <a:pt x="98638" y="20650"/>
                  <a:pt x="103252" y="25264"/>
                  <a:pt x="103252" y="30976"/>
                </a:cubicBezTo>
                <a:lnTo>
                  <a:pt x="103252" y="41301"/>
                </a:lnTo>
                <a:cubicBezTo>
                  <a:pt x="103252" y="47012"/>
                  <a:pt x="98638" y="51626"/>
                  <a:pt x="92927" y="51626"/>
                </a:cubicBezTo>
                <a:lnTo>
                  <a:pt x="30976" y="51626"/>
                </a:lnTo>
                <a:cubicBezTo>
                  <a:pt x="25264" y="51626"/>
                  <a:pt x="20650" y="47012"/>
                  <a:pt x="20650" y="41301"/>
                </a:cubicBezTo>
                <a:lnTo>
                  <a:pt x="20650" y="30976"/>
                </a:lnTo>
                <a:cubicBezTo>
                  <a:pt x="20650" y="25264"/>
                  <a:pt x="25264" y="20650"/>
                  <a:pt x="30976" y="20650"/>
                </a:cubicBezTo>
                <a:close/>
                <a:moveTo>
                  <a:pt x="36138" y="74858"/>
                </a:moveTo>
                <a:cubicBezTo>
                  <a:pt x="36138" y="79132"/>
                  <a:pt x="32668" y="82602"/>
                  <a:pt x="28394" y="82602"/>
                </a:cubicBezTo>
                <a:cubicBezTo>
                  <a:pt x="24120" y="82602"/>
                  <a:pt x="20650" y="79132"/>
                  <a:pt x="20650" y="74858"/>
                </a:cubicBezTo>
                <a:cubicBezTo>
                  <a:pt x="20650" y="70584"/>
                  <a:pt x="24120" y="67114"/>
                  <a:pt x="28394" y="67114"/>
                </a:cubicBezTo>
                <a:cubicBezTo>
                  <a:pt x="32668" y="67114"/>
                  <a:pt x="36138" y="70584"/>
                  <a:pt x="36138" y="74858"/>
                </a:cubicBezTo>
                <a:close/>
                <a:moveTo>
                  <a:pt x="61951" y="82602"/>
                </a:moveTo>
                <a:cubicBezTo>
                  <a:pt x="57677" y="82602"/>
                  <a:pt x="54207" y="79132"/>
                  <a:pt x="54207" y="74858"/>
                </a:cubicBezTo>
                <a:cubicBezTo>
                  <a:pt x="54207" y="70584"/>
                  <a:pt x="57677" y="67114"/>
                  <a:pt x="61951" y="67114"/>
                </a:cubicBezTo>
                <a:cubicBezTo>
                  <a:pt x="66225" y="67114"/>
                  <a:pt x="69695" y="70584"/>
                  <a:pt x="69695" y="74858"/>
                </a:cubicBezTo>
                <a:cubicBezTo>
                  <a:pt x="69695" y="79132"/>
                  <a:pt x="66225" y="82602"/>
                  <a:pt x="61951" y="82602"/>
                </a:cubicBezTo>
                <a:close/>
                <a:moveTo>
                  <a:pt x="103252" y="74858"/>
                </a:moveTo>
                <a:cubicBezTo>
                  <a:pt x="103252" y="79132"/>
                  <a:pt x="99782" y="82602"/>
                  <a:pt x="95508" y="82602"/>
                </a:cubicBezTo>
                <a:cubicBezTo>
                  <a:pt x="91234" y="82602"/>
                  <a:pt x="87764" y="79132"/>
                  <a:pt x="87764" y="74858"/>
                </a:cubicBezTo>
                <a:cubicBezTo>
                  <a:pt x="87764" y="70584"/>
                  <a:pt x="91234" y="67114"/>
                  <a:pt x="95508" y="67114"/>
                </a:cubicBezTo>
                <a:cubicBezTo>
                  <a:pt x="99782" y="67114"/>
                  <a:pt x="103252" y="70584"/>
                  <a:pt x="103252" y="74858"/>
                </a:cubicBezTo>
                <a:close/>
                <a:moveTo>
                  <a:pt x="28394" y="113577"/>
                </a:moveTo>
                <a:cubicBezTo>
                  <a:pt x="24120" y="113577"/>
                  <a:pt x="20650" y="110107"/>
                  <a:pt x="20650" y="105833"/>
                </a:cubicBezTo>
                <a:cubicBezTo>
                  <a:pt x="20650" y="101559"/>
                  <a:pt x="24120" y="98089"/>
                  <a:pt x="28394" y="98089"/>
                </a:cubicBezTo>
                <a:cubicBezTo>
                  <a:pt x="32668" y="98089"/>
                  <a:pt x="36138" y="101559"/>
                  <a:pt x="36138" y="105833"/>
                </a:cubicBezTo>
                <a:cubicBezTo>
                  <a:pt x="36138" y="110107"/>
                  <a:pt x="32668" y="113577"/>
                  <a:pt x="28394" y="113577"/>
                </a:cubicBezTo>
                <a:close/>
                <a:moveTo>
                  <a:pt x="69695" y="105833"/>
                </a:moveTo>
                <a:cubicBezTo>
                  <a:pt x="69695" y="110107"/>
                  <a:pt x="66225" y="113577"/>
                  <a:pt x="61951" y="113577"/>
                </a:cubicBezTo>
                <a:cubicBezTo>
                  <a:pt x="57677" y="113577"/>
                  <a:pt x="54207" y="110107"/>
                  <a:pt x="54207" y="105833"/>
                </a:cubicBezTo>
                <a:cubicBezTo>
                  <a:pt x="54207" y="101559"/>
                  <a:pt x="57677" y="98089"/>
                  <a:pt x="61951" y="98089"/>
                </a:cubicBezTo>
                <a:cubicBezTo>
                  <a:pt x="66225" y="98089"/>
                  <a:pt x="69695" y="101559"/>
                  <a:pt x="69695" y="105833"/>
                </a:cubicBezTo>
                <a:close/>
                <a:moveTo>
                  <a:pt x="95508" y="113577"/>
                </a:moveTo>
                <a:cubicBezTo>
                  <a:pt x="91234" y="113577"/>
                  <a:pt x="87764" y="110107"/>
                  <a:pt x="87764" y="105833"/>
                </a:cubicBezTo>
                <a:cubicBezTo>
                  <a:pt x="87764" y="101559"/>
                  <a:pt x="91234" y="98089"/>
                  <a:pt x="95508" y="98089"/>
                </a:cubicBezTo>
                <a:cubicBezTo>
                  <a:pt x="99782" y="98089"/>
                  <a:pt x="103252" y="101559"/>
                  <a:pt x="103252" y="105833"/>
                </a:cubicBezTo>
                <a:cubicBezTo>
                  <a:pt x="103252" y="110107"/>
                  <a:pt x="99782" y="113577"/>
                  <a:pt x="95508" y="113577"/>
                </a:cubicBezTo>
                <a:close/>
                <a:moveTo>
                  <a:pt x="20650" y="136809"/>
                </a:moveTo>
                <a:cubicBezTo>
                  <a:pt x="20650" y="132518"/>
                  <a:pt x="24103" y="129065"/>
                  <a:pt x="28394" y="129065"/>
                </a:cubicBezTo>
                <a:lnTo>
                  <a:pt x="64533" y="129065"/>
                </a:lnTo>
                <a:cubicBezTo>
                  <a:pt x="68824" y="129065"/>
                  <a:pt x="72276" y="132518"/>
                  <a:pt x="72276" y="136809"/>
                </a:cubicBezTo>
                <a:cubicBezTo>
                  <a:pt x="72276" y="141100"/>
                  <a:pt x="68824" y="144553"/>
                  <a:pt x="64533" y="144553"/>
                </a:cubicBezTo>
                <a:lnTo>
                  <a:pt x="28394" y="144553"/>
                </a:lnTo>
                <a:cubicBezTo>
                  <a:pt x="24103" y="144553"/>
                  <a:pt x="20650" y="141100"/>
                  <a:pt x="20650" y="136809"/>
                </a:cubicBezTo>
                <a:close/>
                <a:moveTo>
                  <a:pt x="95508" y="129065"/>
                </a:moveTo>
                <a:cubicBezTo>
                  <a:pt x="99800" y="129065"/>
                  <a:pt x="103252" y="132518"/>
                  <a:pt x="103252" y="136809"/>
                </a:cubicBezTo>
                <a:cubicBezTo>
                  <a:pt x="103252" y="141100"/>
                  <a:pt x="99800" y="144553"/>
                  <a:pt x="95508" y="144553"/>
                </a:cubicBezTo>
                <a:cubicBezTo>
                  <a:pt x="91217" y="144553"/>
                  <a:pt x="87764" y="141100"/>
                  <a:pt x="87764" y="136809"/>
                </a:cubicBezTo>
                <a:cubicBezTo>
                  <a:pt x="87764" y="132518"/>
                  <a:pt x="91217" y="129065"/>
                  <a:pt x="95508" y="12906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702114" y="1156423"/>
            <a:ext cx="524520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Mathematical Formulation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5610" y="1486829"/>
            <a:ext cx="5369106" cy="892098"/>
          </a:xfrm>
          <a:custGeom>
            <a:avLst/>
            <a:gdLst/>
            <a:ahLst/>
            <a:cxnLst/>
            <a:rect l="l" t="t" r="r" b="b"/>
            <a:pathLst>
              <a:path w="5369106" h="892098">
                <a:moveTo>
                  <a:pt x="66078" y="0"/>
                </a:moveTo>
                <a:lnTo>
                  <a:pt x="5303028" y="0"/>
                </a:lnTo>
                <a:cubicBezTo>
                  <a:pt x="5339522" y="0"/>
                  <a:pt x="5369106" y="29584"/>
                  <a:pt x="5369106" y="66078"/>
                </a:cubicBezTo>
                <a:lnTo>
                  <a:pt x="5369106" y="826020"/>
                </a:lnTo>
                <a:cubicBezTo>
                  <a:pt x="5369106" y="862514"/>
                  <a:pt x="5339522" y="892098"/>
                  <a:pt x="5303028" y="892098"/>
                </a:cubicBezTo>
                <a:lnTo>
                  <a:pt x="66078" y="892098"/>
                </a:lnTo>
                <a:cubicBezTo>
                  <a:pt x="29584" y="892098"/>
                  <a:pt x="0" y="862514"/>
                  <a:pt x="0" y="826020"/>
                </a:cubicBezTo>
                <a:lnTo>
                  <a:pt x="0" y="66078"/>
                </a:lnTo>
                <a:cubicBezTo>
                  <a:pt x="0" y="29584"/>
                  <a:pt x="29584" y="0"/>
                  <a:pt x="660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732" y="1585951"/>
            <a:ext cx="5228683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Calculate ratio of majority neighbors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27170" y="1866797"/>
            <a:ext cx="703921" cy="189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Δ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/ 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9951" y="2147642"/>
            <a:ext cx="522042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Δ</a:t>
            </a:r>
            <a:pPr algn="ctr">
              <a:lnSpc>
                <a:spcPct val="110000"/>
              </a:lnSpc>
            </a:pPr>
            <a:r>
              <a:rPr lang="en-US" sz="585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number of majority class in K nearest neighbors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5610" y="2445008"/>
            <a:ext cx="5369106" cy="892098"/>
          </a:xfrm>
          <a:custGeom>
            <a:avLst/>
            <a:gdLst/>
            <a:ahLst/>
            <a:cxnLst/>
            <a:rect l="l" t="t" r="r" b="b"/>
            <a:pathLst>
              <a:path w="5369106" h="892098">
                <a:moveTo>
                  <a:pt x="66078" y="0"/>
                </a:moveTo>
                <a:lnTo>
                  <a:pt x="5303028" y="0"/>
                </a:lnTo>
                <a:cubicBezTo>
                  <a:pt x="5339522" y="0"/>
                  <a:pt x="5369106" y="29584"/>
                  <a:pt x="5369106" y="66078"/>
                </a:cubicBezTo>
                <a:lnTo>
                  <a:pt x="5369106" y="826020"/>
                </a:lnTo>
                <a:cubicBezTo>
                  <a:pt x="5369106" y="862514"/>
                  <a:pt x="5339522" y="892098"/>
                  <a:pt x="5303028" y="892098"/>
                </a:cubicBezTo>
                <a:lnTo>
                  <a:pt x="66078" y="892098"/>
                </a:lnTo>
                <a:cubicBezTo>
                  <a:pt x="29584" y="892098"/>
                  <a:pt x="0" y="862514"/>
                  <a:pt x="0" y="826020"/>
                </a:cubicBezTo>
                <a:lnTo>
                  <a:pt x="0" y="66078"/>
                </a:lnTo>
                <a:cubicBezTo>
                  <a:pt x="0" y="29584"/>
                  <a:pt x="29584" y="0"/>
                  <a:pt x="660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732" y="2544130"/>
            <a:ext cx="5228683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Normalize the ratio distribution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6127" y="2824976"/>
            <a:ext cx="786135" cy="189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r'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r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/ Σr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9951" y="3105821"/>
            <a:ext cx="522042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Σr'</a:t>
            </a:r>
            <a:pPr algn="ctr">
              <a:lnSpc>
                <a:spcPct val="110000"/>
              </a:lnSpc>
            </a:pPr>
            <a:r>
              <a:rPr lang="en-US" sz="585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5610" y="3403187"/>
            <a:ext cx="5369106" cy="892098"/>
          </a:xfrm>
          <a:custGeom>
            <a:avLst/>
            <a:gdLst/>
            <a:ahLst/>
            <a:cxnLst/>
            <a:rect l="l" t="t" r="r" b="b"/>
            <a:pathLst>
              <a:path w="5369106" h="892098">
                <a:moveTo>
                  <a:pt x="66078" y="0"/>
                </a:moveTo>
                <a:lnTo>
                  <a:pt x="5303028" y="0"/>
                </a:lnTo>
                <a:cubicBezTo>
                  <a:pt x="5339522" y="0"/>
                  <a:pt x="5369106" y="29584"/>
                  <a:pt x="5369106" y="66078"/>
                </a:cubicBezTo>
                <a:lnTo>
                  <a:pt x="5369106" y="826020"/>
                </a:lnTo>
                <a:cubicBezTo>
                  <a:pt x="5369106" y="862514"/>
                  <a:pt x="5339522" y="892098"/>
                  <a:pt x="5303028" y="892098"/>
                </a:cubicBezTo>
                <a:lnTo>
                  <a:pt x="66078" y="892098"/>
                </a:lnTo>
                <a:cubicBezTo>
                  <a:pt x="29584" y="892098"/>
                  <a:pt x="0" y="862514"/>
                  <a:pt x="0" y="826020"/>
                </a:cubicBezTo>
                <a:lnTo>
                  <a:pt x="0" y="66078"/>
                </a:lnTo>
                <a:cubicBezTo>
                  <a:pt x="0" y="29584"/>
                  <a:pt x="29584" y="0"/>
                  <a:pt x="660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732" y="3502309"/>
            <a:ext cx="5228683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Calculate synthetic samples for each instance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2849" y="3783154"/>
            <a:ext cx="692563" cy="189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r'</a:t>
            </a:r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20000"/>
              </a:lnSpc>
            </a:pPr>
            <a:r>
              <a:rPr lang="en-US" sz="130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× 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9951" y="4064000"/>
            <a:ext cx="522042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G = total synthetic samples needed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09706" y="1024260"/>
            <a:ext cx="5649951" cy="3700553"/>
          </a:xfrm>
          <a:custGeom>
            <a:avLst/>
            <a:gdLst/>
            <a:ahLst/>
            <a:cxnLst/>
            <a:rect l="l" t="t" r="r" b="b"/>
            <a:pathLst>
              <a:path w="5649951" h="3700553">
                <a:moveTo>
                  <a:pt x="0" y="0"/>
                </a:moveTo>
                <a:lnTo>
                  <a:pt x="5583859" y="0"/>
                </a:lnTo>
                <a:cubicBezTo>
                  <a:pt x="5620361" y="0"/>
                  <a:pt x="5649951" y="29590"/>
                  <a:pt x="5649951" y="66092"/>
                </a:cubicBezTo>
                <a:lnTo>
                  <a:pt x="5649951" y="3634461"/>
                </a:lnTo>
                <a:cubicBezTo>
                  <a:pt x="5649951" y="3670963"/>
                  <a:pt x="5620361" y="3700553"/>
                  <a:pt x="5583859" y="3700553"/>
                </a:cubicBezTo>
                <a:lnTo>
                  <a:pt x="0" y="370055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09706" y="1024260"/>
            <a:ext cx="33041" cy="3700553"/>
          </a:xfrm>
          <a:custGeom>
            <a:avLst/>
            <a:gdLst/>
            <a:ahLst/>
            <a:cxnLst/>
            <a:rect l="l" t="t" r="r" b="b"/>
            <a:pathLst>
              <a:path w="33041" h="3700553">
                <a:moveTo>
                  <a:pt x="0" y="0"/>
                </a:moveTo>
                <a:lnTo>
                  <a:pt x="33041" y="0"/>
                </a:lnTo>
                <a:lnTo>
                  <a:pt x="33041" y="3700553"/>
                </a:lnTo>
                <a:lnTo>
                  <a:pt x="0" y="3700553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9365" y="1189463"/>
            <a:ext cx="144553" cy="165203"/>
          </a:xfrm>
          <a:custGeom>
            <a:avLst/>
            <a:gdLst/>
            <a:ahLst/>
            <a:cxnLst/>
            <a:rect l="l" t="t" r="r" b="b"/>
            <a:pathLst>
              <a:path w="144553" h="165203">
                <a:moveTo>
                  <a:pt x="25813" y="33557"/>
                </a:moveTo>
                <a:cubicBezTo>
                  <a:pt x="30087" y="33557"/>
                  <a:pt x="33557" y="30087"/>
                  <a:pt x="33557" y="25813"/>
                </a:cubicBezTo>
                <a:cubicBezTo>
                  <a:pt x="33557" y="21539"/>
                  <a:pt x="30087" y="18069"/>
                  <a:pt x="25813" y="18069"/>
                </a:cubicBezTo>
                <a:cubicBezTo>
                  <a:pt x="21539" y="18069"/>
                  <a:pt x="18069" y="21539"/>
                  <a:pt x="18069" y="25813"/>
                </a:cubicBezTo>
                <a:cubicBezTo>
                  <a:pt x="18069" y="30087"/>
                  <a:pt x="21539" y="33557"/>
                  <a:pt x="25813" y="33557"/>
                </a:cubicBezTo>
                <a:close/>
                <a:moveTo>
                  <a:pt x="51626" y="25813"/>
                </a:moveTo>
                <a:cubicBezTo>
                  <a:pt x="51626" y="36396"/>
                  <a:pt x="45270" y="45495"/>
                  <a:pt x="36138" y="49464"/>
                </a:cubicBezTo>
                <a:lnTo>
                  <a:pt x="36138" y="72276"/>
                </a:lnTo>
                <a:lnTo>
                  <a:pt x="92927" y="72276"/>
                </a:lnTo>
                <a:cubicBezTo>
                  <a:pt x="101477" y="72276"/>
                  <a:pt x="108415" y="65339"/>
                  <a:pt x="108415" y="56789"/>
                </a:cubicBezTo>
                <a:lnTo>
                  <a:pt x="108415" y="49464"/>
                </a:lnTo>
                <a:cubicBezTo>
                  <a:pt x="99283" y="45495"/>
                  <a:pt x="92927" y="36396"/>
                  <a:pt x="92927" y="25813"/>
                </a:cubicBezTo>
                <a:cubicBezTo>
                  <a:pt x="92927" y="11551"/>
                  <a:pt x="104478" y="0"/>
                  <a:pt x="118740" y="0"/>
                </a:cubicBezTo>
                <a:cubicBezTo>
                  <a:pt x="133002" y="0"/>
                  <a:pt x="144553" y="11551"/>
                  <a:pt x="144553" y="25813"/>
                </a:cubicBezTo>
                <a:cubicBezTo>
                  <a:pt x="144553" y="36396"/>
                  <a:pt x="138196" y="45495"/>
                  <a:pt x="129065" y="49464"/>
                </a:cubicBezTo>
                <a:lnTo>
                  <a:pt x="129065" y="56789"/>
                </a:lnTo>
                <a:cubicBezTo>
                  <a:pt x="129065" y="76761"/>
                  <a:pt x="112900" y="92927"/>
                  <a:pt x="92927" y="92927"/>
                </a:cubicBezTo>
                <a:lnTo>
                  <a:pt x="36138" y="92927"/>
                </a:lnTo>
                <a:lnTo>
                  <a:pt x="36138" y="115739"/>
                </a:lnTo>
                <a:cubicBezTo>
                  <a:pt x="45270" y="119708"/>
                  <a:pt x="51626" y="128807"/>
                  <a:pt x="51626" y="139390"/>
                </a:cubicBezTo>
                <a:cubicBezTo>
                  <a:pt x="51626" y="153652"/>
                  <a:pt x="40075" y="165203"/>
                  <a:pt x="25813" y="165203"/>
                </a:cubicBezTo>
                <a:cubicBezTo>
                  <a:pt x="11551" y="165203"/>
                  <a:pt x="0" y="153652"/>
                  <a:pt x="0" y="139390"/>
                </a:cubicBezTo>
                <a:cubicBezTo>
                  <a:pt x="0" y="128807"/>
                  <a:pt x="6356" y="119708"/>
                  <a:pt x="15488" y="115739"/>
                </a:cubicBezTo>
                <a:lnTo>
                  <a:pt x="15488" y="49496"/>
                </a:lnTo>
                <a:cubicBezTo>
                  <a:pt x="6356" y="45495"/>
                  <a:pt x="0" y="36396"/>
                  <a:pt x="0" y="25813"/>
                </a:cubicBezTo>
                <a:cubicBezTo>
                  <a:pt x="0" y="11551"/>
                  <a:pt x="11551" y="0"/>
                  <a:pt x="25813" y="0"/>
                </a:cubicBezTo>
                <a:cubicBezTo>
                  <a:pt x="40075" y="0"/>
                  <a:pt x="51626" y="11551"/>
                  <a:pt x="51626" y="25813"/>
                </a:cubicBezTo>
                <a:close/>
                <a:moveTo>
                  <a:pt x="126484" y="25813"/>
                </a:moveTo>
                <a:cubicBezTo>
                  <a:pt x="126484" y="21539"/>
                  <a:pt x="123014" y="18069"/>
                  <a:pt x="118740" y="18069"/>
                </a:cubicBezTo>
                <a:cubicBezTo>
                  <a:pt x="114466" y="18069"/>
                  <a:pt x="110996" y="21539"/>
                  <a:pt x="110996" y="25813"/>
                </a:cubicBezTo>
                <a:cubicBezTo>
                  <a:pt x="110996" y="30087"/>
                  <a:pt x="114466" y="33557"/>
                  <a:pt x="118740" y="33557"/>
                </a:cubicBezTo>
                <a:cubicBezTo>
                  <a:pt x="123014" y="33557"/>
                  <a:pt x="126484" y="30087"/>
                  <a:pt x="126484" y="25813"/>
                </a:cubicBezTo>
                <a:close/>
                <a:moveTo>
                  <a:pt x="25813" y="147134"/>
                </a:moveTo>
                <a:cubicBezTo>
                  <a:pt x="30087" y="147134"/>
                  <a:pt x="33557" y="143664"/>
                  <a:pt x="33557" y="139390"/>
                </a:cubicBezTo>
                <a:cubicBezTo>
                  <a:pt x="33557" y="135116"/>
                  <a:pt x="30087" y="131646"/>
                  <a:pt x="25813" y="131646"/>
                </a:cubicBezTo>
                <a:cubicBezTo>
                  <a:pt x="21539" y="131646"/>
                  <a:pt x="18069" y="135116"/>
                  <a:pt x="18069" y="139390"/>
                </a:cubicBezTo>
                <a:cubicBezTo>
                  <a:pt x="18069" y="143664"/>
                  <a:pt x="21539" y="147134"/>
                  <a:pt x="25813" y="14713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24" name="Text 22"/>
          <p:cNvSpPr/>
          <p:nvPr/>
        </p:nvSpPr>
        <p:spPr>
          <a:xfrm>
            <a:off x="6564893" y="1156423"/>
            <a:ext cx="524520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Sample Generation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8389" y="1486829"/>
            <a:ext cx="5369106" cy="892098"/>
          </a:xfrm>
          <a:custGeom>
            <a:avLst/>
            <a:gdLst/>
            <a:ahLst/>
            <a:cxnLst/>
            <a:rect l="l" t="t" r="r" b="b"/>
            <a:pathLst>
              <a:path w="5369106" h="892098">
                <a:moveTo>
                  <a:pt x="66078" y="0"/>
                </a:moveTo>
                <a:lnTo>
                  <a:pt x="5303028" y="0"/>
                </a:lnTo>
                <a:cubicBezTo>
                  <a:pt x="5339522" y="0"/>
                  <a:pt x="5369106" y="29584"/>
                  <a:pt x="5369106" y="66078"/>
                </a:cubicBezTo>
                <a:lnTo>
                  <a:pt x="5369106" y="826020"/>
                </a:lnTo>
                <a:cubicBezTo>
                  <a:pt x="5369106" y="862514"/>
                  <a:pt x="5339522" y="892098"/>
                  <a:pt x="5303028" y="892098"/>
                </a:cubicBezTo>
                <a:lnTo>
                  <a:pt x="66078" y="892098"/>
                </a:lnTo>
                <a:cubicBezTo>
                  <a:pt x="29584" y="892098"/>
                  <a:pt x="0" y="862514"/>
                  <a:pt x="0" y="826020"/>
                </a:cubicBezTo>
                <a:lnTo>
                  <a:pt x="0" y="66078"/>
                </a:lnTo>
                <a:cubicBezTo>
                  <a:pt x="0" y="29584"/>
                  <a:pt x="29584" y="0"/>
                  <a:pt x="660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57511" y="1585951"/>
            <a:ext cx="5228683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Generate synthetic samples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44338" y="1875057"/>
            <a:ext cx="1195400" cy="17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</a:t>
            </a:r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x</a:t>
            </a:r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+ (x</a:t>
            </a:r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zi</a:t>
            </a:r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- x</a:t>
            </a:r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</a:t>
            </a:r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) × 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2731" y="2147642"/>
            <a:ext cx="522042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λ ~ U(0,1), x</a:t>
            </a:r>
            <a:pPr algn="ctr">
              <a:lnSpc>
                <a:spcPct val="110000"/>
              </a:lnSpc>
            </a:pPr>
            <a:r>
              <a:rPr lang="en-US" sz="585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zi</a:t>
            </a:r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random minority neighbor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2519" y="2449138"/>
            <a:ext cx="5360846" cy="850797"/>
          </a:xfrm>
          <a:custGeom>
            <a:avLst/>
            <a:gdLst/>
            <a:ahLst/>
            <a:cxnLst/>
            <a:rect l="l" t="t" r="r" b="b"/>
            <a:pathLst>
              <a:path w="5360846" h="850797">
                <a:moveTo>
                  <a:pt x="66081" y="0"/>
                </a:moveTo>
                <a:lnTo>
                  <a:pt x="5294764" y="0"/>
                </a:lnTo>
                <a:cubicBezTo>
                  <a:pt x="5331260" y="0"/>
                  <a:pt x="5360846" y="29586"/>
                  <a:pt x="5360846" y="66081"/>
                </a:cubicBezTo>
                <a:lnTo>
                  <a:pt x="5360846" y="784715"/>
                </a:lnTo>
                <a:cubicBezTo>
                  <a:pt x="5360846" y="821211"/>
                  <a:pt x="5331260" y="850797"/>
                  <a:pt x="5294764" y="850797"/>
                </a:cubicBezTo>
                <a:lnTo>
                  <a:pt x="66081" y="850797"/>
                </a:lnTo>
                <a:cubicBezTo>
                  <a:pt x="29586" y="850797"/>
                  <a:pt x="0" y="821211"/>
                  <a:pt x="0" y="78471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5771" y="2552390"/>
            <a:ext cx="522042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65771" y="2816715"/>
            <a:ext cx="5212163" cy="379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r'</a:t>
            </a:r>
            <a:pPr>
              <a:lnSpc>
                <a:spcPct val="14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>
              <a:lnSpc>
                <a:spcPct val="14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more synthetic samples generated. This means </a:t>
            </a:r>
            <a:pPr>
              <a:lnSpc>
                <a:spcPct val="140000"/>
              </a:lnSpc>
            </a:pPr>
            <a:r>
              <a:rPr lang="en-US" sz="911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harder-to-learn instances</a:t>
            </a:r>
            <a:pPr>
              <a:lnSpc>
                <a:spcPct val="14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(those surrounded by more majority neighbors) receive </a:t>
            </a:r>
            <a:pPr>
              <a:lnSpc>
                <a:spcPct val="140000"/>
              </a:lnSpc>
            </a:pPr>
            <a:r>
              <a:rPr lang="en-US" sz="911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synthetic support</a:t>
            </a:r>
            <a:pPr>
              <a:lnSpc>
                <a:spcPct val="14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8389" y="3366016"/>
            <a:ext cx="5369106" cy="1222504"/>
          </a:xfrm>
          <a:custGeom>
            <a:avLst/>
            <a:gdLst/>
            <a:ahLst/>
            <a:cxnLst/>
            <a:rect l="l" t="t" r="r" b="b"/>
            <a:pathLst>
              <a:path w="5369106" h="1222504">
                <a:moveTo>
                  <a:pt x="66076" y="0"/>
                </a:moveTo>
                <a:lnTo>
                  <a:pt x="5303029" y="0"/>
                </a:lnTo>
                <a:cubicBezTo>
                  <a:pt x="5339522" y="0"/>
                  <a:pt x="5369106" y="29583"/>
                  <a:pt x="5369106" y="66076"/>
                </a:cubicBezTo>
                <a:lnTo>
                  <a:pt x="5369106" y="1156428"/>
                </a:lnTo>
                <a:cubicBezTo>
                  <a:pt x="5369106" y="1192921"/>
                  <a:pt x="5339522" y="1222504"/>
                  <a:pt x="5303029" y="1222504"/>
                </a:cubicBezTo>
                <a:lnTo>
                  <a:pt x="66076" y="1222504"/>
                </a:lnTo>
                <a:cubicBezTo>
                  <a:pt x="29583" y="1222504"/>
                  <a:pt x="0" y="1192921"/>
                  <a:pt x="0" y="1156428"/>
                </a:cubicBezTo>
                <a:lnTo>
                  <a:pt x="0" y="66076"/>
                </a:lnTo>
                <a:cubicBezTo>
                  <a:pt x="0" y="29608"/>
                  <a:pt x="29608" y="0"/>
                  <a:pt x="6607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57511" y="3465138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 Algorithm Steps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9674" y="3729463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Calculate imbalance degree and 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9674" y="3927707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For each minority sample, find K nearest neighbors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9674" y="4125951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Calculate r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normalize to get r'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9674" y="4324195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Generate g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synthetic samples for each instance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0407" y="4852846"/>
            <a:ext cx="11531187" cy="1998959"/>
          </a:xfrm>
          <a:custGeom>
            <a:avLst/>
            <a:gdLst/>
            <a:ahLst/>
            <a:cxnLst/>
            <a:rect l="l" t="t" r="r" b="b"/>
            <a:pathLst>
              <a:path w="11531187" h="1998959">
                <a:moveTo>
                  <a:pt x="66086" y="0"/>
                </a:moveTo>
                <a:lnTo>
                  <a:pt x="11465101" y="0"/>
                </a:lnTo>
                <a:cubicBezTo>
                  <a:pt x="11501599" y="0"/>
                  <a:pt x="11531187" y="29588"/>
                  <a:pt x="11531187" y="66086"/>
                </a:cubicBezTo>
                <a:lnTo>
                  <a:pt x="11531187" y="1932874"/>
                </a:lnTo>
                <a:cubicBezTo>
                  <a:pt x="11531187" y="1969372"/>
                  <a:pt x="11501599" y="1998959"/>
                  <a:pt x="11465101" y="1998959"/>
                </a:cubicBezTo>
                <a:lnTo>
                  <a:pt x="66086" y="1998959"/>
                </a:lnTo>
                <a:cubicBezTo>
                  <a:pt x="29588" y="1998959"/>
                  <a:pt x="0" y="1969372"/>
                  <a:pt x="0" y="1932874"/>
                </a:cubicBezTo>
                <a:lnTo>
                  <a:pt x="0" y="66086"/>
                </a:lnTo>
                <a:cubicBezTo>
                  <a:pt x="0" y="29612"/>
                  <a:pt x="29612" y="0"/>
                  <a:pt x="6608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62569" y="4985008"/>
            <a:ext cx="1134946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vs ADASYN: Mathematical Comparison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6699" y="5319545"/>
            <a:ext cx="5526049" cy="1395967"/>
          </a:xfrm>
          <a:custGeom>
            <a:avLst/>
            <a:gdLst/>
            <a:ahLst/>
            <a:cxnLst/>
            <a:rect l="l" t="t" r="r" b="b"/>
            <a:pathLst>
              <a:path w="5526049" h="1395967">
                <a:moveTo>
                  <a:pt x="66085" y="0"/>
                </a:moveTo>
                <a:lnTo>
                  <a:pt x="5459964" y="0"/>
                </a:lnTo>
                <a:cubicBezTo>
                  <a:pt x="5496461" y="0"/>
                  <a:pt x="5526049" y="29587"/>
                  <a:pt x="5526049" y="66085"/>
                </a:cubicBezTo>
                <a:lnTo>
                  <a:pt x="5526049" y="1329882"/>
                </a:lnTo>
                <a:cubicBezTo>
                  <a:pt x="5526049" y="1366380"/>
                  <a:pt x="5496461" y="1395967"/>
                  <a:pt x="5459964" y="1395967"/>
                </a:cubicBezTo>
                <a:lnTo>
                  <a:pt x="66085" y="1395967"/>
                </a:lnTo>
                <a:cubicBezTo>
                  <a:pt x="29587" y="1395967"/>
                  <a:pt x="0" y="1366380"/>
                  <a:pt x="0" y="1329882"/>
                </a:cubicBezTo>
                <a:lnTo>
                  <a:pt x="0" y="66085"/>
                </a:lnTo>
                <a:cubicBezTo>
                  <a:pt x="0" y="29587"/>
                  <a:pt x="29587" y="0"/>
                  <a:pt x="660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0602" y="5464098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17262" y="9990"/>
                </a:moveTo>
                <a:cubicBezTo>
                  <a:pt x="120747" y="8538"/>
                  <a:pt x="124725" y="9351"/>
                  <a:pt x="127397" y="11993"/>
                </a:cubicBezTo>
                <a:lnTo>
                  <a:pt x="145982" y="30579"/>
                </a:lnTo>
                <a:cubicBezTo>
                  <a:pt x="147725" y="32321"/>
                  <a:pt x="148712" y="34673"/>
                  <a:pt x="148712" y="37142"/>
                </a:cubicBezTo>
                <a:cubicBezTo>
                  <a:pt x="148712" y="39610"/>
                  <a:pt x="147725" y="41962"/>
                  <a:pt x="145982" y="43705"/>
                </a:cubicBezTo>
                <a:lnTo>
                  <a:pt x="127397" y="62290"/>
                </a:lnTo>
                <a:cubicBezTo>
                  <a:pt x="124725" y="64962"/>
                  <a:pt x="120747" y="65746"/>
                  <a:pt x="117262" y="64294"/>
                </a:cubicBezTo>
                <a:cubicBezTo>
                  <a:pt x="113777" y="62842"/>
                  <a:pt x="111512" y="59502"/>
                  <a:pt x="111512" y="55756"/>
                </a:cubicBezTo>
                <a:lnTo>
                  <a:pt x="111512" y="46463"/>
                </a:lnTo>
                <a:lnTo>
                  <a:pt x="102220" y="46463"/>
                </a:lnTo>
                <a:cubicBezTo>
                  <a:pt x="99287" y="46463"/>
                  <a:pt x="96528" y="47828"/>
                  <a:pt x="94785" y="50180"/>
                </a:cubicBezTo>
                <a:lnTo>
                  <a:pt x="85377" y="62726"/>
                </a:lnTo>
                <a:lnTo>
                  <a:pt x="73761" y="47247"/>
                </a:lnTo>
                <a:lnTo>
                  <a:pt x="79917" y="39029"/>
                </a:lnTo>
                <a:cubicBezTo>
                  <a:pt x="85173" y="32002"/>
                  <a:pt x="93450" y="27878"/>
                  <a:pt x="102220" y="27878"/>
                </a:cubicBezTo>
                <a:lnTo>
                  <a:pt x="111512" y="27878"/>
                </a:lnTo>
                <a:lnTo>
                  <a:pt x="111512" y="18585"/>
                </a:lnTo>
                <a:cubicBezTo>
                  <a:pt x="111512" y="14839"/>
                  <a:pt x="113777" y="11442"/>
                  <a:pt x="117262" y="9990"/>
                </a:cubicBezTo>
                <a:close/>
                <a:moveTo>
                  <a:pt x="44721" y="85957"/>
                </a:moveTo>
                <a:lnTo>
                  <a:pt x="56337" y="101435"/>
                </a:lnTo>
                <a:lnTo>
                  <a:pt x="50180" y="109654"/>
                </a:lnTo>
                <a:cubicBezTo>
                  <a:pt x="44924" y="116681"/>
                  <a:pt x="36648" y="120805"/>
                  <a:pt x="27878" y="120805"/>
                </a:cubicBezTo>
                <a:lnTo>
                  <a:pt x="9293" y="120805"/>
                </a:lnTo>
                <a:cubicBezTo>
                  <a:pt x="4153" y="120805"/>
                  <a:pt x="0" y="116652"/>
                  <a:pt x="0" y="111512"/>
                </a:cubicBezTo>
                <a:cubicBezTo>
                  <a:pt x="0" y="106372"/>
                  <a:pt x="4153" y="102220"/>
                  <a:pt x="9293" y="102220"/>
                </a:cubicBezTo>
                <a:lnTo>
                  <a:pt x="27878" y="102220"/>
                </a:lnTo>
                <a:cubicBezTo>
                  <a:pt x="30811" y="102220"/>
                  <a:pt x="33570" y="100855"/>
                  <a:pt x="35312" y="98502"/>
                </a:cubicBezTo>
                <a:lnTo>
                  <a:pt x="44721" y="85957"/>
                </a:lnTo>
                <a:close/>
                <a:moveTo>
                  <a:pt x="127368" y="136661"/>
                </a:moveTo>
                <a:cubicBezTo>
                  <a:pt x="124696" y="139332"/>
                  <a:pt x="120718" y="140116"/>
                  <a:pt x="117233" y="138664"/>
                </a:cubicBezTo>
                <a:cubicBezTo>
                  <a:pt x="113748" y="137212"/>
                  <a:pt x="111512" y="133844"/>
                  <a:pt x="111512" y="130098"/>
                </a:cubicBezTo>
                <a:lnTo>
                  <a:pt x="111512" y="120805"/>
                </a:lnTo>
                <a:lnTo>
                  <a:pt x="102220" y="120805"/>
                </a:lnTo>
                <a:cubicBezTo>
                  <a:pt x="93450" y="120805"/>
                  <a:pt x="85173" y="116681"/>
                  <a:pt x="79917" y="109654"/>
                </a:cubicBezTo>
                <a:lnTo>
                  <a:pt x="35312" y="50180"/>
                </a:lnTo>
                <a:cubicBezTo>
                  <a:pt x="33570" y="47828"/>
                  <a:pt x="30811" y="46463"/>
                  <a:pt x="27878" y="46463"/>
                </a:cubicBezTo>
                <a:lnTo>
                  <a:pt x="9293" y="46463"/>
                </a:lnTo>
                <a:cubicBezTo>
                  <a:pt x="4153" y="46463"/>
                  <a:pt x="0" y="42311"/>
                  <a:pt x="0" y="37171"/>
                </a:cubicBezTo>
                <a:cubicBezTo>
                  <a:pt x="0" y="32031"/>
                  <a:pt x="4153" y="27878"/>
                  <a:pt x="9293" y="27878"/>
                </a:cubicBezTo>
                <a:lnTo>
                  <a:pt x="27878" y="27878"/>
                </a:lnTo>
                <a:cubicBezTo>
                  <a:pt x="36648" y="27878"/>
                  <a:pt x="44924" y="32002"/>
                  <a:pt x="50180" y="39029"/>
                </a:cubicBezTo>
                <a:lnTo>
                  <a:pt x="94785" y="98502"/>
                </a:lnTo>
                <a:cubicBezTo>
                  <a:pt x="96528" y="100855"/>
                  <a:pt x="99287" y="102220"/>
                  <a:pt x="102220" y="102220"/>
                </a:cubicBezTo>
                <a:lnTo>
                  <a:pt x="111512" y="102220"/>
                </a:lnTo>
                <a:lnTo>
                  <a:pt x="111512" y="92927"/>
                </a:lnTo>
                <a:cubicBezTo>
                  <a:pt x="111512" y="89181"/>
                  <a:pt x="113777" y="85783"/>
                  <a:pt x="117262" y="84331"/>
                </a:cubicBezTo>
                <a:cubicBezTo>
                  <a:pt x="120747" y="82879"/>
                  <a:pt x="124725" y="83692"/>
                  <a:pt x="127397" y="86335"/>
                </a:cubicBezTo>
                <a:lnTo>
                  <a:pt x="145982" y="104920"/>
                </a:lnTo>
                <a:cubicBezTo>
                  <a:pt x="147725" y="106663"/>
                  <a:pt x="148712" y="109015"/>
                  <a:pt x="148712" y="111483"/>
                </a:cubicBezTo>
                <a:cubicBezTo>
                  <a:pt x="148712" y="113952"/>
                  <a:pt x="147725" y="116304"/>
                  <a:pt x="145982" y="118046"/>
                </a:cubicBezTo>
                <a:lnTo>
                  <a:pt x="127397" y="136631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2" name="Text 40"/>
          <p:cNvSpPr/>
          <p:nvPr/>
        </p:nvSpPr>
        <p:spPr>
          <a:xfrm>
            <a:off x="759935" y="5422797"/>
            <a:ext cx="520390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(Uniform)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69951" y="5753203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Uniform across all minority samples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69951" y="5984488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G / |C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(equal for all)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69951" y="6215772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Easy and hard cases get same support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9951" y="6447057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Noise in overlapping regions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7316" y="5319545"/>
            <a:ext cx="5526049" cy="1395967"/>
          </a:xfrm>
          <a:custGeom>
            <a:avLst/>
            <a:gdLst/>
            <a:ahLst/>
            <a:cxnLst/>
            <a:rect l="l" t="t" r="r" b="b"/>
            <a:pathLst>
              <a:path w="5526049" h="1395967">
                <a:moveTo>
                  <a:pt x="66085" y="0"/>
                </a:moveTo>
                <a:lnTo>
                  <a:pt x="5459964" y="0"/>
                </a:lnTo>
                <a:cubicBezTo>
                  <a:pt x="5496461" y="0"/>
                  <a:pt x="5526049" y="29587"/>
                  <a:pt x="5526049" y="66085"/>
                </a:cubicBezTo>
                <a:lnTo>
                  <a:pt x="5526049" y="1329882"/>
                </a:lnTo>
                <a:cubicBezTo>
                  <a:pt x="5526049" y="1366380"/>
                  <a:pt x="5496461" y="1395967"/>
                  <a:pt x="5459964" y="1395967"/>
                </a:cubicBezTo>
                <a:lnTo>
                  <a:pt x="66085" y="1395967"/>
                </a:lnTo>
                <a:cubicBezTo>
                  <a:pt x="29587" y="1395967"/>
                  <a:pt x="0" y="1366380"/>
                  <a:pt x="0" y="1329882"/>
                </a:cubicBezTo>
                <a:lnTo>
                  <a:pt x="0" y="66085"/>
                </a:lnTo>
                <a:cubicBezTo>
                  <a:pt x="0" y="29587"/>
                  <a:pt x="29587" y="0"/>
                  <a:pt x="66085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1218" y="5464098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39419" y="55756"/>
                </a:moveTo>
                <a:lnTo>
                  <a:pt x="141713" y="55756"/>
                </a:lnTo>
                <a:cubicBezTo>
                  <a:pt x="145576" y="55756"/>
                  <a:pt x="148683" y="52649"/>
                  <a:pt x="148683" y="48787"/>
                </a:cubicBezTo>
                <a:lnTo>
                  <a:pt x="148683" y="6970"/>
                </a:lnTo>
                <a:cubicBezTo>
                  <a:pt x="148683" y="4153"/>
                  <a:pt x="146999" y="1597"/>
                  <a:pt x="144385" y="523"/>
                </a:cubicBezTo>
                <a:cubicBezTo>
                  <a:pt x="141771" y="-552"/>
                  <a:pt x="138780" y="58"/>
                  <a:pt x="136777" y="2033"/>
                </a:cubicBezTo>
                <a:lnTo>
                  <a:pt x="121763" y="17075"/>
                </a:lnTo>
                <a:cubicBezTo>
                  <a:pt x="108899" y="6418"/>
                  <a:pt x="92346" y="0"/>
                  <a:pt x="74341" y="0"/>
                </a:cubicBezTo>
                <a:cubicBezTo>
                  <a:pt x="36880" y="0"/>
                  <a:pt x="5895" y="27704"/>
                  <a:pt x="755" y="63742"/>
                </a:cubicBezTo>
                <a:cubicBezTo>
                  <a:pt x="29" y="68824"/>
                  <a:pt x="3543" y="73528"/>
                  <a:pt x="8625" y="74254"/>
                </a:cubicBezTo>
                <a:cubicBezTo>
                  <a:pt x="13707" y="74980"/>
                  <a:pt x="18411" y="71438"/>
                  <a:pt x="19137" y="66385"/>
                </a:cubicBezTo>
                <a:cubicBezTo>
                  <a:pt x="22999" y="39349"/>
                  <a:pt x="46260" y="18585"/>
                  <a:pt x="74341" y="18585"/>
                </a:cubicBezTo>
                <a:cubicBezTo>
                  <a:pt x="87235" y="18585"/>
                  <a:pt x="99083" y="22941"/>
                  <a:pt x="108521" y="30288"/>
                </a:cubicBezTo>
                <a:lnTo>
                  <a:pt x="94960" y="43850"/>
                </a:lnTo>
                <a:cubicBezTo>
                  <a:pt x="92956" y="45854"/>
                  <a:pt x="92375" y="48845"/>
                  <a:pt x="93450" y="51458"/>
                </a:cubicBezTo>
                <a:cubicBezTo>
                  <a:pt x="94524" y="54072"/>
                  <a:pt x="97079" y="55756"/>
                  <a:pt x="99896" y="55756"/>
                </a:cubicBezTo>
                <a:lnTo>
                  <a:pt x="139419" y="55756"/>
                </a:lnTo>
                <a:close/>
                <a:moveTo>
                  <a:pt x="147957" y="84941"/>
                </a:moveTo>
                <a:cubicBezTo>
                  <a:pt x="148683" y="79859"/>
                  <a:pt x="145140" y="75155"/>
                  <a:pt x="140087" y="74429"/>
                </a:cubicBezTo>
                <a:cubicBezTo>
                  <a:pt x="135034" y="73703"/>
                  <a:pt x="130301" y="77245"/>
                  <a:pt x="129575" y="82298"/>
                </a:cubicBezTo>
                <a:cubicBezTo>
                  <a:pt x="125713" y="109305"/>
                  <a:pt x="102452" y="130069"/>
                  <a:pt x="74371" y="130069"/>
                </a:cubicBezTo>
                <a:cubicBezTo>
                  <a:pt x="61477" y="130069"/>
                  <a:pt x="49629" y="125713"/>
                  <a:pt x="40191" y="118366"/>
                </a:cubicBezTo>
                <a:lnTo>
                  <a:pt x="53723" y="104833"/>
                </a:lnTo>
                <a:cubicBezTo>
                  <a:pt x="55727" y="102829"/>
                  <a:pt x="56308" y="99838"/>
                  <a:pt x="55233" y="97225"/>
                </a:cubicBezTo>
                <a:cubicBezTo>
                  <a:pt x="54159" y="94611"/>
                  <a:pt x="51603" y="92927"/>
                  <a:pt x="48787" y="92927"/>
                </a:cubicBezTo>
                <a:lnTo>
                  <a:pt x="6970" y="92927"/>
                </a:lnTo>
                <a:cubicBezTo>
                  <a:pt x="3107" y="92927"/>
                  <a:pt x="0" y="96034"/>
                  <a:pt x="0" y="99896"/>
                </a:cubicBezTo>
                <a:lnTo>
                  <a:pt x="0" y="141713"/>
                </a:lnTo>
                <a:cubicBezTo>
                  <a:pt x="0" y="144530"/>
                  <a:pt x="1684" y="147086"/>
                  <a:pt x="4298" y="148160"/>
                </a:cubicBezTo>
                <a:cubicBezTo>
                  <a:pt x="6911" y="149235"/>
                  <a:pt x="9903" y="148625"/>
                  <a:pt x="11906" y="146650"/>
                </a:cubicBezTo>
                <a:lnTo>
                  <a:pt x="26949" y="131608"/>
                </a:lnTo>
                <a:cubicBezTo>
                  <a:pt x="39784" y="142265"/>
                  <a:pt x="56337" y="148683"/>
                  <a:pt x="74341" y="148683"/>
                </a:cubicBezTo>
                <a:cubicBezTo>
                  <a:pt x="111803" y="148683"/>
                  <a:pt x="142788" y="120979"/>
                  <a:pt x="147928" y="8494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9" name="Text 47"/>
          <p:cNvSpPr/>
          <p:nvPr/>
        </p:nvSpPr>
        <p:spPr>
          <a:xfrm>
            <a:off x="6490552" y="5422797"/>
            <a:ext cx="520390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 (Adaptive)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00568" y="5753203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Proportional to difficulty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00568" y="5984488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r'</a:t>
            </a:r>
            <a:pPr>
              <a:lnSpc>
                <a:spcPct val="120000"/>
              </a:lnSpc>
            </a:pPr>
            <a:r>
              <a:rPr lang="en-US" sz="68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G (varies by hardness)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00568" y="6215772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Hard cases get more support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00568" y="6447057"/>
            <a:ext cx="537736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pPr>
              <a:lnSpc>
                <a:spcPct val="120000"/>
              </a:lnSpc>
            </a:pPr>
            <a:r>
              <a:rPr lang="en-US" sz="91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Better decision boundaries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425302"/>
            <a:ext cx="425302" cy="35442"/>
          </a:xfrm>
          <a:custGeom>
            <a:avLst/>
            <a:gdLst/>
            <a:ahLst/>
            <a:cxnLst/>
            <a:rect l="l" t="t" r="r" b="b"/>
            <a:pathLst>
              <a:path w="425302" h="35442">
                <a:moveTo>
                  <a:pt x="0" y="0"/>
                </a:moveTo>
                <a:lnTo>
                  <a:pt x="425302" y="0"/>
                </a:lnTo>
                <a:lnTo>
                  <a:pt x="425302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886047" y="354419"/>
            <a:ext cx="247207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spc="98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07. Mathematical Foundations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602512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Selection &amp; Cost-Sensitive Learning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140" y="1098698"/>
            <a:ext cx="5617535" cy="3526465"/>
          </a:xfrm>
          <a:custGeom>
            <a:avLst/>
            <a:gdLst/>
            <a:ahLst/>
            <a:cxnLst/>
            <a:rect l="l" t="t" r="r" b="b"/>
            <a:pathLst>
              <a:path w="5617535" h="3526465">
                <a:moveTo>
                  <a:pt x="0" y="0"/>
                </a:moveTo>
                <a:lnTo>
                  <a:pt x="5546653" y="0"/>
                </a:lnTo>
                <a:cubicBezTo>
                  <a:pt x="5585800" y="0"/>
                  <a:pt x="5617535" y="31735"/>
                  <a:pt x="5617535" y="70882"/>
                </a:cubicBezTo>
                <a:lnTo>
                  <a:pt x="5617535" y="3455583"/>
                </a:lnTo>
                <a:cubicBezTo>
                  <a:pt x="5617535" y="3494730"/>
                  <a:pt x="5585800" y="3526465"/>
                  <a:pt x="5546653" y="3526465"/>
                </a:cubicBezTo>
                <a:lnTo>
                  <a:pt x="0" y="352646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2140" y="1098698"/>
            <a:ext cx="35442" cy="3526465"/>
          </a:xfrm>
          <a:custGeom>
            <a:avLst/>
            <a:gdLst/>
            <a:ahLst/>
            <a:cxnLst/>
            <a:rect l="l" t="t" r="r" b="b"/>
            <a:pathLst>
              <a:path w="35442" h="3526465">
                <a:moveTo>
                  <a:pt x="0" y="0"/>
                </a:moveTo>
                <a:lnTo>
                  <a:pt x="35442" y="0"/>
                </a:lnTo>
                <a:lnTo>
                  <a:pt x="35442" y="3526465"/>
                </a:lnTo>
                <a:lnTo>
                  <a:pt x="0" y="352646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" name="Shape 5"/>
          <p:cNvSpPr/>
          <p:nvPr/>
        </p:nvSpPr>
        <p:spPr>
          <a:xfrm>
            <a:off x="553779" y="1275907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11076" y="22151"/>
                </a:moveTo>
                <a:cubicBezTo>
                  <a:pt x="6611" y="22151"/>
                  <a:pt x="2561" y="24851"/>
                  <a:pt x="831" y="29004"/>
                </a:cubicBezTo>
                <a:cubicBezTo>
                  <a:pt x="-900" y="33158"/>
                  <a:pt x="69" y="37899"/>
                  <a:pt x="3253" y="41049"/>
                </a:cubicBezTo>
                <a:lnTo>
                  <a:pt x="66453" y="104284"/>
                </a:lnTo>
                <a:lnTo>
                  <a:pt x="66453" y="143983"/>
                </a:lnTo>
                <a:cubicBezTo>
                  <a:pt x="66453" y="146925"/>
                  <a:pt x="67630" y="149728"/>
                  <a:pt x="69707" y="151805"/>
                </a:cubicBezTo>
                <a:lnTo>
                  <a:pt x="91858" y="173956"/>
                </a:lnTo>
                <a:cubicBezTo>
                  <a:pt x="95042" y="177140"/>
                  <a:pt x="99784" y="178075"/>
                  <a:pt x="103937" y="176344"/>
                </a:cubicBezTo>
                <a:cubicBezTo>
                  <a:pt x="108091" y="174613"/>
                  <a:pt x="110756" y="170599"/>
                  <a:pt x="110756" y="166134"/>
                </a:cubicBezTo>
                <a:lnTo>
                  <a:pt x="110756" y="104284"/>
                </a:lnTo>
                <a:lnTo>
                  <a:pt x="173956" y="41083"/>
                </a:lnTo>
                <a:cubicBezTo>
                  <a:pt x="177140" y="37899"/>
                  <a:pt x="178075" y="33158"/>
                  <a:pt x="176344" y="29004"/>
                </a:cubicBezTo>
                <a:cubicBezTo>
                  <a:pt x="174613" y="24851"/>
                  <a:pt x="170599" y="22151"/>
                  <a:pt x="166134" y="22151"/>
                </a:cubicBezTo>
                <a:lnTo>
                  <a:pt x="11076" y="22151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8" name="Text 6"/>
          <p:cNvSpPr/>
          <p:nvPr/>
        </p:nvSpPr>
        <p:spPr>
          <a:xfrm>
            <a:off x="753140" y="1240465"/>
            <a:ext cx="5183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SelectKBest with f_classif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1628" y="1594884"/>
            <a:ext cx="5316279" cy="779721"/>
          </a:xfrm>
          <a:custGeom>
            <a:avLst/>
            <a:gdLst/>
            <a:ahLst/>
            <a:cxnLst/>
            <a:rect l="l" t="t" r="r" b="b"/>
            <a:pathLst>
              <a:path w="5316279" h="779721">
                <a:moveTo>
                  <a:pt x="70884" y="0"/>
                </a:moveTo>
                <a:lnTo>
                  <a:pt x="5245395" y="0"/>
                </a:lnTo>
                <a:cubicBezTo>
                  <a:pt x="5284543" y="0"/>
                  <a:pt x="5316279" y="31736"/>
                  <a:pt x="5316279" y="70884"/>
                </a:cubicBezTo>
                <a:lnTo>
                  <a:pt x="5316279" y="708837"/>
                </a:lnTo>
                <a:cubicBezTo>
                  <a:pt x="5316279" y="747985"/>
                  <a:pt x="5284543" y="779721"/>
                  <a:pt x="5245395" y="779721"/>
                </a:cubicBezTo>
                <a:lnTo>
                  <a:pt x="70884" y="779721"/>
                </a:lnTo>
                <a:cubicBezTo>
                  <a:pt x="31736" y="779721"/>
                  <a:pt x="0" y="747985"/>
                  <a:pt x="0" y="708837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7953" y="1701209"/>
            <a:ext cx="111669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ANOVA F-Statistic: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0473" y="2002465"/>
            <a:ext cx="1998450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 = (Var</a:t>
            </a:r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between</a:t>
            </a:r>
            <a:pPr algn="ctr">
              <a:lnSpc>
                <a:spcPct val="120000"/>
              </a:lnSpc>
            </a:pPr>
            <a:r>
              <a:rPr lang="en-US" sz="1395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) / (Var</a:t>
            </a:r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within</a:t>
            </a:r>
            <a:pPr algn="ctr">
              <a:lnSpc>
                <a:spcPct val="120000"/>
              </a:lnSpc>
            </a:pPr>
            <a:r>
              <a:rPr lang="en-US" sz="1395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1628" y="2445488"/>
            <a:ext cx="5316279" cy="744279"/>
          </a:xfrm>
          <a:custGeom>
            <a:avLst/>
            <a:gdLst/>
            <a:ahLst/>
            <a:cxnLst/>
            <a:rect l="l" t="t" r="r" b="b"/>
            <a:pathLst>
              <a:path w="5316279" h="744279">
                <a:moveTo>
                  <a:pt x="70885" y="0"/>
                </a:moveTo>
                <a:lnTo>
                  <a:pt x="5245394" y="0"/>
                </a:lnTo>
                <a:cubicBezTo>
                  <a:pt x="5284543" y="0"/>
                  <a:pt x="5316279" y="31736"/>
                  <a:pt x="5316279" y="70885"/>
                </a:cubicBezTo>
                <a:lnTo>
                  <a:pt x="5316279" y="673394"/>
                </a:lnTo>
                <a:cubicBezTo>
                  <a:pt x="5316279" y="712543"/>
                  <a:pt x="5284543" y="744279"/>
                  <a:pt x="5245394" y="744279"/>
                </a:cubicBezTo>
                <a:lnTo>
                  <a:pt x="70885" y="744279"/>
                </a:lnTo>
                <a:cubicBezTo>
                  <a:pt x="31736" y="744279"/>
                  <a:pt x="0" y="712543"/>
                  <a:pt x="0" y="673394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7953" y="2551814"/>
            <a:ext cx="5165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Between-group variance: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98322" y="2861930"/>
            <a:ext cx="1782892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Var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between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Σn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(x̄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- x̄)</a:t>
            </a:r>
            <a:pPr algn="ctr">
              <a:lnSpc>
                <a:spcPct val="130000"/>
              </a:lnSpc>
            </a:pPr>
            <a:r>
              <a:rPr lang="en-US" sz="83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/ (k-1)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628" y="3260651"/>
            <a:ext cx="5316279" cy="744279"/>
          </a:xfrm>
          <a:custGeom>
            <a:avLst/>
            <a:gdLst/>
            <a:ahLst/>
            <a:cxnLst/>
            <a:rect l="l" t="t" r="r" b="b"/>
            <a:pathLst>
              <a:path w="5316279" h="744279">
                <a:moveTo>
                  <a:pt x="70885" y="0"/>
                </a:moveTo>
                <a:lnTo>
                  <a:pt x="5245394" y="0"/>
                </a:lnTo>
                <a:cubicBezTo>
                  <a:pt x="5284543" y="0"/>
                  <a:pt x="5316279" y="31736"/>
                  <a:pt x="5316279" y="70885"/>
                </a:cubicBezTo>
                <a:lnTo>
                  <a:pt x="5316279" y="673394"/>
                </a:lnTo>
                <a:cubicBezTo>
                  <a:pt x="5316279" y="712543"/>
                  <a:pt x="5284543" y="744279"/>
                  <a:pt x="5245394" y="744279"/>
                </a:cubicBezTo>
                <a:lnTo>
                  <a:pt x="70885" y="744279"/>
                </a:lnTo>
                <a:cubicBezTo>
                  <a:pt x="31736" y="744279"/>
                  <a:pt x="0" y="712543"/>
                  <a:pt x="0" y="673394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7953" y="3366977"/>
            <a:ext cx="516565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Within-group variance: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12028" y="3677093"/>
            <a:ext cx="1755341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Var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within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ΣΣ(x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ij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- x̄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)</a:t>
            </a:r>
            <a:pPr algn="ctr">
              <a:lnSpc>
                <a:spcPct val="130000"/>
              </a:lnSpc>
            </a:pPr>
            <a:r>
              <a:rPr lang="en-US" sz="83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/ (N-k)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6058" y="4080244"/>
            <a:ext cx="5307419" cy="398721"/>
          </a:xfrm>
          <a:custGeom>
            <a:avLst/>
            <a:gdLst/>
            <a:ahLst/>
            <a:cxnLst/>
            <a:rect l="l" t="t" r="r" b="b"/>
            <a:pathLst>
              <a:path w="5307419" h="398721">
                <a:moveTo>
                  <a:pt x="70885" y="0"/>
                </a:moveTo>
                <a:lnTo>
                  <a:pt x="5236534" y="0"/>
                </a:lnTo>
                <a:cubicBezTo>
                  <a:pt x="5275682" y="0"/>
                  <a:pt x="5307419" y="31736"/>
                  <a:pt x="5307419" y="70885"/>
                </a:cubicBezTo>
                <a:lnTo>
                  <a:pt x="5307419" y="327836"/>
                </a:lnTo>
                <a:cubicBezTo>
                  <a:pt x="5307419" y="366985"/>
                  <a:pt x="5275682" y="398721"/>
                  <a:pt x="5236534" y="398721"/>
                </a:cubicBezTo>
                <a:lnTo>
                  <a:pt x="70885" y="398721"/>
                </a:lnTo>
                <a:cubicBezTo>
                  <a:pt x="31762" y="398721"/>
                  <a:pt x="0" y="366959"/>
                  <a:pt x="0" y="327836"/>
                </a:cubicBezTo>
                <a:lnTo>
                  <a:pt x="0" y="70885"/>
                </a:lnTo>
                <a:cubicBezTo>
                  <a:pt x="0" y="31762"/>
                  <a:pt x="31762" y="0"/>
                  <a:pt x="70885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814" y="4191000"/>
            <a:ext cx="514793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Interpretation:</a:t>
            </a:r>
            <a:pPr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Higher F-score → feature has stronger discriminative power between classes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0047" y="1098698"/>
            <a:ext cx="5617535" cy="3526465"/>
          </a:xfrm>
          <a:custGeom>
            <a:avLst/>
            <a:gdLst/>
            <a:ahLst/>
            <a:cxnLst/>
            <a:rect l="l" t="t" r="r" b="b"/>
            <a:pathLst>
              <a:path w="5617535" h="3526465">
                <a:moveTo>
                  <a:pt x="0" y="0"/>
                </a:moveTo>
                <a:lnTo>
                  <a:pt x="5546653" y="0"/>
                </a:lnTo>
                <a:cubicBezTo>
                  <a:pt x="5585800" y="0"/>
                  <a:pt x="5617535" y="31735"/>
                  <a:pt x="5617535" y="70882"/>
                </a:cubicBezTo>
                <a:lnTo>
                  <a:pt x="5617535" y="3455583"/>
                </a:lnTo>
                <a:cubicBezTo>
                  <a:pt x="5617535" y="3494730"/>
                  <a:pt x="5585800" y="3526465"/>
                  <a:pt x="5546653" y="3526465"/>
                </a:cubicBezTo>
                <a:lnTo>
                  <a:pt x="0" y="352646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20047" y="1098698"/>
            <a:ext cx="35442" cy="3526465"/>
          </a:xfrm>
          <a:custGeom>
            <a:avLst/>
            <a:gdLst/>
            <a:ahLst/>
            <a:cxnLst/>
            <a:rect l="l" t="t" r="r" b="b"/>
            <a:pathLst>
              <a:path w="35442" h="3526465">
                <a:moveTo>
                  <a:pt x="0" y="0"/>
                </a:moveTo>
                <a:lnTo>
                  <a:pt x="35442" y="0"/>
                </a:lnTo>
                <a:lnTo>
                  <a:pt x="35442" y="3526465"/>
                </a:lnTo>
                <a:lnTo>
                  <a:pt x="0" y="3526465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2" name="Shape 20"/>
          <p:cNvSpPr/>
          <p:nvPr/>
        </p:nvSpPr>
        <p:spPr>
          <a:xfrm>
            <a:off x="6379535" y="1275907"/>
            <a:ext cx="221512" cy="177209"/>
          </a:xfrm>
          <a:custGeom>
            <a:avLst/>
            <a:gdLst/>
            <a:ahLst/>
            <a:cxnLst/>
            <a:rect l="l" t="t" r="r" b="b"/>
            <a:pathLst>
              <a:path w="221512" h="177209">
                <a:moveTo>
                  <a:pt x="132907" y="11076"/>
                </a:moveTo>
                <a:lnTo>
                  <a:pt x="177209" y="11076"/>
                </a:lnTo>
                <a:cubicBezTo>
                  <a:pt x="183335" y="11076"/>
                  <a:pt x="188285" y="16025"/>
                  <a:pt x="188285" y="22151"/>
                </a:cubicBezTo>
                <a:cubicBezTo>
                  <a:pt x="188285" y="28277"/>
                  <a:pt x="183335" y="33227"/>
                  <a:pt x="177209" y="33227"/>
                </a:cubicBezTo>
                <a:lnTo>
                  <a:pt x="137891" y="33227"/>
                </a:lnTo>
                <a:cubicBezTo>
                  <a:pt x="136091" y="42156"/>
                  <a:pt x="129965" y="49529"/>
                  <a:pt x="121831" y="53059"/>
                </a:cubicBezTo>
                <a:lnTo>
                  <a:pt x="121831" y="155058"/>
                </a:lnTo>
                <a:lnTo>
                  <a:pt x="177209" y="155058"/>
                </a:lnTo>
                <a:cubicBezTo>
                  <a:pt x="183335" y="155058"/>
                  <a:pt x="188285" y="160008"/>
                  <a:pt x="188285" y="166134"/>
                </a:cubicBezTo>
                <a:cubicBezTo>
                  <a:pt x="188285" y="172260"/>
                  <a:pt x="183335" y="177209"/>
                  <a:pt x="177209" y="177209"/>
                </a:cubicBezTo>
                <a:lnTo>
                  <a:pt x="44302" y="177209"/>
                </a:lnTo>
                <a:cubicBezTo>
                  <a:pt x="38176" y="177209"/>
                  <a:pt x="33227" y="172260"/>
                  <a:pt x="33227" y="166134"/>
                </a:cubicBezTo>
                <a:cubicBezTo>
                  <a:pt x="33227" y="160008"/>
                  <a:pt x="38176" y="155058"/>
                  <a:pt x="44302" y="155058"/>
                </a:cubicBezTo>
                <a:lnTo>
                  <a:pt x="99680" y="155058"/>
                </a:lnTo>
                <a:lnTo>
                  <a:pt x="99680" y="53059"/>
                </a:lnTo>
                <a:cubicBezTo>
                  <a:pt x="91547" y="49494"/>
                  <a:pt x="85420" y="42122"/>
                  <a:pt x="83621" y="33227"/>
                </a:cubicBezTo>
                <a:lnTo>
                  <a:pt x="44302" y="33227"/>
                </a:lnTo>
                <a:cubicBezTo>
                  <a:pt x="38176" y="33227"/>
                  <a:pt x="33227" y="28277"/>
                  <a:pt x="33227" y="22151"/>
                </a:cubicBezTo>
                <a:cubicBezTo>
                  <a:pt x="33227" y="16025"/>
                  <a:pt x="38176" y="11076"/>
                  <a:pt x="44302" y="11076"/>
                </a:cubicBezTo>
                <a:lnTo>
                  <a:pt x="88605" y="11076"/>
                </a:lnTo>
                <a:cubicBezTo>
                  <a:pt x="93658" y="4361"/>
                  <a:pt x="101688" y="0"/>
                  <a:pt x="110756" y="0"/>
                </a:cubicBezTo>
                <a:cubicBezTo>
                  <a:pt x="119824" y="0"/>
                  <a:pt x="127854" y="4361"/>
                  <a:pt x="132907" y="11076"/>
                </a:cubicBezTo>
                <a:close/>
                <a:moveTo>
                  <a:pt x="152151" y="110756"/>
                </a:moveTo>
                <a:lnTo>
                  <a:pt x="202268" y="110756"/>
                </a:lnTo>
                <a:lnTo>
                  <a:pt x="177209" y="67769"/>
                </a:lnTo>
                <a:lnTo>
                  <a:pt x="152151" y="110756"/>
                </a:lnTo>
                <a:close/>
                <a:moveTo>
                  <a:pt x="177209" y="143983"/>
                </a:moveTo>
                <a:cubicBezTo>
                  <a:pt x="155439" y="143983"/>
                  <a:pt x="137337" y="132215"/>
                  <a:pt x="133599" y="116674"/>
                </a:cubicBezTo>
                <a:cubicBezTo>
                  <a:pt x="132699" y="112867"/>
                  <a:pt x="133945" y="108956"/>
                  <a:pt x="135918" y="105564"/>
                </a:cubicBezTo>
                <a:lnTo>
                  <a:pt x="168868" y="49079"/>
                </a:lnTo>
                <a:cubicBezTo>
                  <a:pt x="170599" y="46102"/>
                  <a:pt x="173783" y="44302"/>
                  <a:pt x="177209" y="44302"/>
                </a:cubicBezTo>
                <a:cubicBezTo>
                  <a:pt x="180636" y="44302"/>
                  <a:pt x="183820" y="46137"/>
                  <a:pt x="185551" y="49079"/>
                </a:cubicBezTo>
                <a:lnTo>
                  <a:pt x="218500" y="105564"/>
                </a:lnTo>
                <a:cubicBezTo>
                  <a:pt x="220473" y="108956"/>
                  <a:pt x="221719" y="112867"/>
                  <a:pt x="220819" y="116674"/>
                </a:cubicBezTo>
                <a:cubicBezTo>
                  <a:pt x="217081" y="132180"/>
                  <a:pt x="198980" y="143983"/>
                  <a:pt x="177209" y="143983"/>
                </a:cubicBezTo>
                <a:close/>
                <a:moveTo>
                  <a:pt x="43887" y="67769"/>
                </a:moveTo>
                <a:lnTo>
                  <a:pt x="18828" y="110756"/>
                </a:lnTo>
                <a:lnTo>
                  <a:pt x="68980" y="110756"/>
                </a:lnTo>
                <a:lnTo>
                  <a:pt x="43887" y="67769"/>
                </a:lnTo>
                <a:close/>
                <a:moveTo>
                  <a:pt x="312" y="116674"/>
                </a:moveTo>
                <a:cubicBezTo>
                  <a:pt x="-588" y="112867"/>
                  <a:pt x="658" y="108956"/>
                  <a:pt x="2630" y="105564"/>
                </a:cubicBezTo>
                <a:lnTo>
                  <a:pt x="35580" y="49079"/>
                </a:lnTo>
                <a:cubicBezTo>
                  <a:pt x="37311" y="46102"/>
                  <a:pt x="40495" y="44302"/>
                  <a:pt x="43922" y="44302"/>
                </a:cubicBezTo>
                <a:cubicBezTo>
                  <a:pt x="47348" y="44302"/>
                  <a:pt x="50532" y="46137"/>
                  <a:pt x="52263" y="49079"/>
                </a:cubicBezTo>
                <a:lnTo>
                  <a:pt x="85213" y="105564"/>
                </a:lnTo>
                <a:cubicBezTo>
                  <a:pt x="87186" y="108956"/>
                  <a:pt x="88432" y="112867"/>
                  <a:pt x="87532" y="116674"/>
                </a:cubicBezTo>
                <a:cubicBezTo>
                  <a:pt x="83794" y="132180"/>
                  <a:pt x="65692" y="143983"/>
                  <a:pt x="43922" y="143983"/>
                </a:cubicBezTo>
                <a:cubicBezTo>
                  <a:pt x="22151" y="143983"/>
                  <a:pt x="4050" y="132215"/>
                  <a:pt x="312" y="116674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047" y="1240465"/>
            <a:ext cx="5183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Cost-Sensitive Learning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9535" y="1594884"/>
            <a:ext cx="5316279" cy="956930"/>
          </a:xfrm>
          <a:custGeom>
            <a:avLst/>
            <a:gdLst/>
            <a:ahLst/>
            <a:cxnLst/>
            <a:rect l="l" t="t" r="r" b="b"/>
            <a:pathLst>
              <a:path w="5316279" h="956930">
                <a:moveTo>
                  <a:pt x="70880" y="0"/>
                </a:moveTo>
                <a:lnTo>
                  <a:pt x="5245399" y="0"/>
                </a:lnTo>
                <a:cubicBezTo>
                  <a:pt x="5284545" y="0"/>
                  <a:pt x="5316279" y="31734"/>
                  <a:pt x="5316279" y="70880"/>
                </a:cubicBezTo>
                <a:lnTo>
                  <a:pt x="5316279" y="886050"/>
                </a:lnTo>
                <a:cubicBezTo>
                  <a:pt x="5316279" y="925196"/>
                  <a:pt x="5284545" y="956930"/>
                  <a:pt x="5245399" y="956930"/>
                </a:cubicBezTo>
                <a:lnTo>
                  <a:pt x="70880" y="956930"/>
                </a:lnTo>
                <a:cubicBezTo>
                  <a:pt x="31760" y="956930"/>
                  <a:pt x="0" y="925170"/>
                  <a:pt x="0" y="886050"/>
                </a:cubicBezTo>
                <a:lnTo>
                  <a:pt x="0" y="70880"/>
                </a:lnTo>
                <a:cubicBezTo>
                  <a:pt x="0" y="31734"/>
                  <a:pt x="31734" y="0"/>
                  <a:pt x="708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85860" y="1701209"/>
            <a:ext cx="1070732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scale_pos_weight: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63406" y="2002465"/>
            <a:ext cx="1148538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spw = C</a:t>
            </a:r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FN</a:t>
            </a:r>
            <a:pPr algn="ctr">
              <a:lnSpc>
                <a:spcPct val="120000"/>
              </a:lnSpc>
            </a:pPr>
            <a:r>
              <a:rPr lang="en-US" sz="1395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/ C</a:t>
            </a:r>
            <a:pPr algn="ctr">
              <a:lnSpc>
                <a:spcPct val="12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9279" y="2303721"/>
            <a:ext cx="5156791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C</a:t>
            </a:r>
            <a:pPr algn="ctr">
              <a:lnSpc>
                <a:spcPct val="110000"/>
              </a:lnSpc>
            </a:pPr>
            <a:r>
              <a:rPr lang="en-US" sz="628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</a:t>
            </a:r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cost of false negative, C</a:t>
            </a:r>
            <a:pPr algn="ctr">
              <a:lnSpc>
                <a:spcPct val="110000"/>
              </a:lnSpc>
            </a:pPr>
            <a:r>
              <a:rPr lang="en-US" sz="628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</a:t>
            </a:r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cost of false positive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9535" y="2622698"/>
            <a:ext cx="5316279" cy="921488"/>
          </a:xfrm>
          <a:custGeom>
            <a:avLst/>
            <a:gdLst/>
            <a:ahLst/>
            <a:cxnLst/>
            <a:rect l="l" t="t" r="r" b="b"/>
            <a:pathLst>
              <a:path w="5316279" h="921488">
                <a:moveTo>
                  <a:pt x="70881" y="0"/>
                </a:moveTo>
                <a:lnTo>
                  <a:pt x="5245398" y="0"/>
                </a:lnTo>
                <a:cubicBezTo>
                  <a:pt x="5284545" y="0"/>
                  <a:pt x="5316279" y="31734"/>
                  <a:pt x="5316279" y="70881"/>
                </a:cubicBezTo>
                <a:lnTo>
                  <a:pt x="5316279" y="850607"/>
                </a:lnTo>
                <a:cubicBezTo>
                  <a:pt x="5316279" y="889754"/>
                  <a:pt x="5284545" y="921488"/>
                  <a:pt x="5245398" y="921488"/>
                </a:cubicBezTo>
                <a:lnTo>
                  <a:pt x="70881" y="921488"/>
                </a:lnTo>
                <a:cubicBezTo>
                  <a:pt x="31761" y="921488"/>
                  <a:pt x="0" y="889728"/>
                  <a:pt x="0" y="850607"/>
                </a:cubicBezTo>
                <a:lnTo>
                  <a:pt x="0" y="70881"/>
                </a:lnTo>
                <a:cubicBezTo>
                  <a:pt x="0" y="31761"/>
                  <a:pt x="31761" y="0"/>
                  <a:pt x="708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85860" y="2729023"/>
            <a:ext cx="137171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Modified Loss Function: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53619" y="3039140"/>
            <a:ext cx="136797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weighted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= w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+ w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</a:t>
            </a:r>
            <a:pPr algn="ctr">
              <a:lnSpc>
                <a:spcPct val="130000"/>
              </a:lnSpc>
            </a:pPr>
            <a:r>
              <a:rPr lang="en-US" sz="977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9279" y="3296093"/>
            <a:ext cx="5156791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w</a:t>
            </a:r>
            <a:pPr algn="ctr">
              <a:lnSpc>
                <a:spcPct val="110000"/>
              </a:lnSpc>
            </a:pPr>
            <a:r>
              <a:rPr lang="en-US" sz="628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spw, w</a:t>
            </a:r>
            <a:pPr algn="ctr">
              <a:lnSpc>
                <a:spcPct val="110000"/>
              </a:lnSpc>
            </a:pPr>
            <a:r>
              <a:rPr lang="en-US" sz="628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3965" y="3619500"/>
            <a:ext cx="5307419" cy="575930"/>
          </a:xfrm>
          <a:custGeom>
            <a:avLst/>
            <a:gdLst/>
            <a:ahLst/>
            <a:cxnLst/>
            <a:rect l="l" t="t" r="r" b="b"/>
            <a:pathLst>
              <a:path w="5307419" h="575930">
                <a:moveTo>
                  <a:pt x="70885" y="0"/>
                </a:moveTo>
                <a:lnTo>
                  <a:pt x="5236533" y="0"/>
                </a:lnTo>
                <a:cubicBezTo>
                  <a:pt x="5275682" y="0"/>
                  <a:pt x="5307419" y="31737"/>
                  <a:pt x="5307419" y="70885"/>
                </a:cubicBezTo>
                <a:lnTo>
                  <a:pt x="5307419" y="505045"/>
                </a:lnTo>
                <a:cubicBezTo>
                  <a:pt x="5307419" y="544194"/>
                  <a:pt x="5275682" y="575930"/>
                  <a:pt x="5236533" y="575930"/>
                </a:cubicBezTo>
                <a:lnTo>
                  <a:pt x="70885" y="575930"/>
                </a:lnTo>
                <a:cubicBezTo>
                  <a:pt x="31737" y="575930"/>
                  <a:pt x="0" y="544194"/>
                  <a:pt x="0" y="505045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4721" y="3730256"/>
            <a:ext cx="5147930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Context:</a:t>
            </a:r>
            <a:pPr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breast cancer diagnosis, C</a:t>
            </a:r>
            <a:pPr>
              <a:lnSpc>
                <a:spcPct val="120000"/>
              </a:lnSpc>
            </a:pPr>
            <a:r>
              <a:rPr lang="en-US" sz="7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</a:t>
            </a:r>
            <a:pPr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&gt;&gt; C</a:t>
            </a:r>
            <a:pPr>
              <a:lnSpc>
                <a:spcPct val="120000"/>
              </a:lnSpc>
            </a:pPr>
            <a:r>
              <a:rPr lang="en-US" sz="733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</a:t>
            </a:r>
            <a:pPr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(missing cancer is far worse than false alarm)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4419" y="4766930"/>
            <a:ext cx="11483163" cy="1913860"/>
          </a:xfrm>
          <a:custGeom>
            <a:avLst/>
            <a:gdLst/>
            <a:ahLst/>
            <a:cxnLst/>
            <a:rect l="l" t="t" r="r" b="b"/>
            <a:pathLst>
              <a:path w="11483163" h="1913860">
                <a:moveTo>
                  <a:pt x="70889" y="0"/>
                </a:moveTo>
                <a:lnTo>
                  <a:pt x="11412273" y="0"/>
                </a:lnTo>
                <a:cubicBezTo>
                  <a:pt x="11451425" y="0"/>
                  <a:pt x="11483163" y="31738"/>
                  <a:pt x="11483163" y="70889"/>
                </a:cubicBezTo>
                <a:lnTo>
                  <a:pt x="11483163" y="1842971"/>
                </a:lnTo>
                <a:cubicBezTo>
                  <a:pt x="11483163" y="1882122"/>
                  <a:pt x="11451425" y="1913860"/>
                  <a:pt x="11412273" y="1913860"/>
                </a:cubicBezTo>
                <a:lnTo>
                  <a:pt x="70889" y="1913860"/>
                </a:lnTo>
                <a:cubicBezTo>
                  <a:pt x="31738" y="1913860"/>
                  <a:pt x="0" y="1882122"/>
                  <a:pt x="0" y="1842971"/>
                </a:cubicBezTo>
                <a:lnTo>
                  <a:pt x="0" y="70889"/>
                </a:lnTo>
                <a:cubicBezTo>
                  <a:pt x="0" y="31764"/>
                  <a:pt x="31764" y="0"/>
                  <a:pt x="7088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6186" y="4908698"/>
            <a:ext cx="1128823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Phase IV Pipeline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6186" y="5280837"/>
            <a:ext cx="1851837" cy="1240465"/>
          </a:xfrm>
          <a:custGeom>
            <a:avLst/>
            <a:gdLst/>
            <a:ahLst/>
            <a:cxnLst/>
            <a:rect l="l" t="t" r="r" b="b"/>
            <a:pathLst>
              <a:path w="1851837" h="1240465">
                <a:moveTo>
                  <a:pt x="70880" y="0"/>
                </a:moveTo>
                <a:lnTo>
                  <a:pt x="1780957" y="0"/>
                </a:lnTo>
                <a:cubicBezTo>
                  <a:pt x="1820103" y="0"/>
                  <a:pt x="1851837" y="31734"/>
                  <a:pt x="1851837" y="70880"/>
                </a:cubicBezTo>
                <a:lnTo>
                  <a:pt x="1851837" y="1169585"/>
                </a:lnTo>
                <a:cubicBezTo>
                  <a:pt x="1851837" y="1208731"/>
                  <a:pt x="1820103" y="1240465"/>
                  <a:pt x="1780957" y="1240465"/>
                </a:cubicBezTo>
                <a:lnTo>
                  <a:pt x="70880" y="1240465"/>
                </a:lnTo>
                <a:cubicBezTo>
                  <a:pt x="31734" y="1240465"/>
                  <a:pt x="0" y="1208731"/>
                  <a:pt x="0" y="1169585"/>
                </a:cubicBezTo>
                <a:lnTo>
                  <a:pt x="0" y="70880"/>
                </a:lnTo>
                <a:cubicBezTo>
                  <a:pt x="0" y="31760"/>
                  <a:pt x="31760" y="0"/>
                  <a:pt x="708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43926" y="538716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177209" y="0"/>
                </a:moveTo>
                <a:lnTo>
                  <a:pt x="177209" y="0"/>
                </a:lnTo>
                <a:cubicBezTo>
                  <a:pt x="275014" y="0"/>
                  <a:pt x="354419" y="79405"/>
                  <a:pt x="354419" y="177209"/>
                </a:cubicBezTo>
                <a:lnTo>
                  <a:pt x="354419" y="177209"/>
                </a:lnTo>
                <a:cubicBezTo>
                  <a:pt x="354419" y="275014"/>
                  <a:pt x="275014" y="354419"/>
                  <a:pt x="177209" y="354419"/>
                </a:cubicBezTo>
                <a:lnTo>
                  <a:pt x="177209" y="354419"/>
                </a:lnTo>
                <a:cubicBezTo>
                  <a:pt x="79405" y="354419"/>
                  <a:pt x="0" y="275014"/>
                  <a:pt x="0" y="177209"/>
                </a:cubicBezTo>
                <a:lnTo>
                  <a:pt x="0" y="177209"/>
                </a:lnTo>
                <a:cubicBezTo>
                  <a:pt x="0" y="79405"/>
                  <a:pt x="79405" y="0"/>
                  <a:pt x="17720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358005" y="5440326"/>
            <a:ext cx="12404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7070" y="5812465"/>
            <a:ext cx="1710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" y="6060558"/>
            <a:ext cx="1701209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Train-test split (80-20)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479130" y="579474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208747" y="115712"/>
                </a:moveTo>
                <a:cubicBezTo>
                  <a:pt x="213939" y="110520"/>
                  <a:pt x="213939" y="102089"/>
                  <a:pt x="208747" y="96897"/>
                </a:cubicBezTo>
                <a:lnTo>
                  <a:pt x="142294" y="30444"/>
                </a:lnTo>
                <a:cubicBezTo>
                  <a:pt x="137102" y="25252"/>
                  <a:pt x="128671" y="25252"/>
                  <a:pt x="123479" y="30444"/>
                </a:cubicBezTo>
                <a:cubicBezTo>
                  <a:pt x="118287" y="35636"/>
                  <a:pt x="118287" y="44067"/>
                  <a:pt x="123479" y="49259"/>
                </a:cubicBezTo>
                <a:lnTo>
                  <a:pt x="167255" y="93035"/>
                </a:lnTo>
                <a:lnTo>
                  <a:pt x="13291" y="93035"/>
                </a:lnTo>
                <a:cubicBezTo>
                  <a:pt x="5939" y="93035"/>
                  <a:pt x="0" y="98974"/>
                  <a:pt x="0" y="106326"/>
                </a:cubicBezTo>
                <a:cubicBezTo>
                  <a:pt x="0" y="113677"/>
                  <a:pt x="5939" y="119616"/>
                  <a:pt x="13291" y="119616"/>
                </a:cubicBezTo>
                <a:lnTo>
                  <a:pt x="167255" y="119616"/>
                </a:lnTo>
                <a:lnTo>
                  <a:pt x="123479" y="163393"/>
                </a:lnTo>
                <a:cubicBezTo>
                  <a:pt x="118287" y="168584"/>
                  <a:pt x="118287" y="177015"/>
                  <a:pt x="123479" y="182207"/>
                </a:cubicBezTo>
                <a:cubicBezTo>
                  <a:pt x="128671" y="187399"/>
                  <a:pt x="137102" y="187399"/>
                  <a:pt x="142294" y="182207"/>
                </a:cubicBezTo>
                <a:lnTo>
                  <a:pt x="208747" y="115754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2" name="Shape 40"/>
          <p:cNvSpPr/>
          <p:nvPr/>
        </p:nvSpPr>
        <p:spPr>
          <a:xfrm>
            <a:off x="2824689" y="5280837"/>
            <a:ext cx="1851837" cy="1240465"/>
          </a:xfrm>
          <a:custGeom>
            <a:avLst/>
            <a:gdLst/>
            <a:ahLst/>
            <a:cxnLst/>
            <a:rect l="l" t="t" r="r" b="b"/>
            <a:pathLst>
              <a:path w="1851837" h="1240465">
                <a:moveTo>
                  <a:pt x="70880" y="0"/>
                </a:moveTo>
                <a:lnTo>
                  <a:pt x="1780957" y="0"/>
                </a:lnTo>
                <a:cubicBezTo>
                  <a:pt x="1820103" y="0"/>
                  <a:pt x="1851837" y="31734"/>
                  <a:pt x="1851837" y="70880"/>
                </a:cubicBezTo>
                <a:lnTo>
                  <a:pt x="1851837" y="1169585"/>
                </a:lnTo>
                <a:cubicBezTo>
                  <a:pt x="1851837" y="1208731"/>
                  <a:pt x="1820103" y="1240465"/>
                  <a:pt x="1780957" y="1240465"/>
                </a:cubicBezTo>
                <a:lnTo>
                  <a:pt x="70880" y="1240465"/>
                </a:lnTo>
                <a:cubicBezTo>
                  <a:pt x="31734" y="1240465"/>
                  <a:pt x="0" y="1208731"/>
                  <a:pt x="0" y="1169585"/>
                </a:cubicBezTo>
                <a:lnTo>
                  <a:pt x="0" y="70880"/>
                </a:lnTo>
                <a:cubicBezTo>
                  <a:pt x="0" y="31760"/>
                  <a:pt x="31760" y="0"/>
                  <a:pt x="708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572567" y="538716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177209" y="0"/>
                </a:moveTo>
                <a:lnTo>
                  <a:pt x="177209" y="0"/>
                </a:lnTo>
                <a:cubicBezTo>
                  <a:pt x="275014" y="0"/>
                  <a:pt x="354419" y="79405"/>
                  <a:pt x="354419" y="177209"/>
                </a:cubicBezTo>
                <a:lnTo>
                  <a:pt x="354419" y="177209"/>
                </a:lnTo>
                <a:cubicBezTo>
                  <a:pt x="354419" y="275014"/>
                  <a:pt x="275014" y="354419"/>
                  <a:pt x="177209" y="354419"/>
                </a:cubicBezTo>
                <a:lnTo>
                  <a:pt x="177209" y="354419"/>
                </a:lnTo>
                <a:cubicBezTo>
                  <a:pt x="79405" y="354419"/>
                  <a:pt x="0" y="275014"/>
                  <a:pt x="0" y="177209"/>
                </a:cubicBezTo>
                <a:lnTo>
                  <a:pt x="0" y="177209"/>
                </a:lnTo>
                <a:cubicBezTo>
                  <a:pt x="0" y="79405"/>
                  <a:pt x="79405" y="0"/>
                  <a:pt x="17720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671971" y="5440326"/>
            <a:ext cx="159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895572" y="5812465"/>
            <a:ext cx="1710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900003" y="6060558"/>
            <a:ext cx="1701209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SelectKBest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f_classif scoring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07771" y="579474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208747" y="115712"/>
                </a:moveTo>
                <a:cubicBezTo>
                  <a:pt x="213939" y="110520"/>
                  <a:pt x="213939" y="102089"/>
                  <a:pt x="208747" y="96897"/>
                </a:cubicBezTo>
                <a:lnTo>
                  <a:pt x="142294" y="30444"/>
                </a:lnTo>
                <a:cubicBezTo>
                  <a:pt x="137102" y="25252"/>
                  <a:pt x="128671" y="25252"/>
                  <a:pt x="123479" y="30444"/>
                </a:cubicBezTo>
                <a:cubicBezTo>
                  <a:pt x="118287" y="35636"/>
                  <a:pt x="118287" y="44067"/>
                  <a:pt x="123479" y="49259"/>
                </a:cubicBezTo>
                <a:lnTo>
                  <a:pt x="167255" y="93035"/>
                </a:lnTo>
                <a:lnTo>
                  <a:pt x="13291" y="93035"/>
                </a:lnTo>
                <a:cubicBezTo>
                  <a:pt x="5939" y="93035"/>
                  <a:pt x="0" y="98974"/>
                  <a:pt x="0" y="106326"/>
                </a:cubicBezTo>
                <a:cubicBezTo>
                  <a:pt x="0" y="113677"/>
                  <a:pt x="5939" y="119616"/>
                  <a:pt x="13291" y="119616"/>
                </a:cubicBezTo>
                <a:lnTo>
                  <a:pt x="167255" y="119616"/>
                </a:lnTo>
                <a:lnTo>
                  <a:pt x="123479" y="163393"/>
                </a:lnTo>
                <a:cubicBezTo>
                  <a:pt x="118287" y="168584"/>
                  <a:pt x="118287" y="177015"/>
                  <a:pt x="123479" y="182207"/>
                </a:cubicBezTo>
                <a:cubicBezTo>
                  <a:pt x="128671" y="187399"/>
                  <a:pt x="137102" y="187399"/>
                  <a:pt x="142294" y="182207"/>
                </a:cubicBezTo>
                <a:lnTo>
                  <a:pt x="208747" y="115754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8" name="Shape 46"/>
          <p:cNvSpPr/>
          <p:nvPr/>
        </p:nvSpPr>
        <p:spPr>
          <a:xfrm>
            <a:off x="5153330" y="5280837"/>
            <a:ext cx="1851837" cy="1240465"/>
          </a:xfrm>
          <a:custGeom>
            <a:avLst/>
            <a:gdLst/>
            <a:ahLst/>
            <a:cxnLst/>
            <a:rect l="l" t="t" r="r" b="b"/>
            <a:pathLst>
              <a:path w="1851837" h="1240465">
                <a:moveTo>
                  <a:pt x="70880" y="0"/>
                </a:moveTo>
                <a:lnTo>
                  <a:pt x="1780957" y="0"/>
                </a:lnTo>
                <a:cubicBezTo>
                  <a:pt x="1820103" y="0"/>
                  <a:pt x="1851837" y="31734"/>
                  <a:pt x="1851837" y="70880"/>
                </a:cubicBezTo>
                <a:lnTo>
                  <a:pt x="1851837" y="1169585"/>
                </a:lnTo>
                <a:cubicBezTo>
                  <a:pt x="1851837" y="1208731"/>
                  <a:pt x="1820103" y="1240465"/>
                  <a:pt x="1780957" y="1240465"/>
                </a:cubicBezTo>
                <a:lnTo>
                  <a:pt x="70880" y="1240465"/>
                </a:lnTo>
                <a:cubicBezTo>
                  <a:pt x="31734" y="1240465"/>
                  <a:pt x="0" y="1208731"/>
                  <a:pt x="0" y="1169585"/>
                </a:cubicBezTo>
                <a:lnTo>
                  <a:pt x="0" y="70880"/>
                </a:lnTo>
                <a:cubicBezTo>
                  <a:pt x="0" y="31760"/>
                  <a:pt x="31760" y="0"/>
                  <a:pt x="708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1070" y="538716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177209" y="0"/>
                </a:moveTo>
                <a:lnTo>
                  <a:pt x="177209" y="0"/>
                </a:lnTo>
                <a:cubicBezTo>
                  <a:pt x="275014" y="0"/>
                  <a:pt x="354419" y="79405"/>
                  <a:pt x="354419" y="177209"/>
                </a:cubicBezTo>
                <a:lnTo>
                  <a:pt x="354419" y="177209"/>
                </a:lnTo>
                <a:cubicBezTo>
                  <a:pt x="354419" y="275014"/>
                  <a:pt x="275014" y="354419"/>
                  <a:pt x="177209" y="354419"/>
                </a:cubicBezTo>
                <a:lnTo>
                  <a:pt x="177209" y="354419"/>
                </a:lnTo>
                <a:cubicBezTo>
                  <a:pt x="79405" y="354419"/>
                  <a:pt x="0" y="275014"/>
                  <a:pt x="0" y="177209"/>
                </a:cubicBezTo>
                <a:lnTo>
                  <a:pt x="0" y="177209"/>
                </a:lnTo>
                <a:cubicBezTo>
                  <a:pt x="0" y="79405"/>
                  <a:pt x="79405" y="0"/>
                  <a:pt x="177209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000058" y="5440326"/>
            <a:ext cx="159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24213" y="5812465"/>
            <a:ext cx="1710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228644" y="6060558"/>
            <a:ext cx="1701209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oversampling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selected features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36274" y="579474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208747" y="115712"/>
                </a:moveTo>
                <a:cubicBezTo>
                  <a:pt x="213939" y="110520"/>
                  <a:pt x="213939" y="102089"/>
                  <a:pt x="208747" y="96897"/>
                </a:cubicBezTo>
                <a:lnTo>
                  <a:pt x="142294" y="30444"/>
                </a:lnTo>
                <a:cubicBezTo>
                  <a:pt x="137102" y="25252"/>
                  <a:pt x="128671" y="25252"/>
                  <a:pt x="123479" y="30444"/>
                </a:cubicBezTo>
                <a:cubicBezTo>
                  <a:pt x="118287" y="35636"/>
                  <a:pt x="118287" y="44067"/>
                  <a:pt x="123479" y="49259"/>
                </a:cubicBezTo>
                <a:lnTo>
                  <a:pt x="167255" y="93035"/>
                </a:lnTo>
                <a:lnTo>
                  <a:pt x="13291" y="93035"/>
                </a:lnTo>
                <a:cubicBezTo>
                  <a:pt x="5939" y="93035"/>
                  <a:pt x="0" y="98974"/>
                  <a:pt x="0" y="106326"/>
                </a:cubicBezTo>
                <a:cubicBezTo>
                  <a:pt x="0" y="113677"/>
                  <a:pt x="5939" y="119616"/>
                  <a:pt x="13291" y="119616"/>
                </a:cubicBezTo>
                <a:lnTo>
                  <a:pt x="167255" y="119616"/>
                </a:lnTo>
                <a:lnTo>
                  <a:pt x="123479" y="163393"/>
                </a:lnTo>
                <a:cubicBezTo>
                  <a:pt x="118287" y="168584"/>
                  <a:pt x="118287" y="177015"/>
                  <a:pt x="123479" y="182207"/>
                </a:cubicBezTo>
                <a:cubicBezTo>
                  <a:pt x="128671" y="187399"/>
                  <a:pt x="137102" y="187399"/>
                  <a:pt x="142294" y="182207"/>
                </a:cubicBezTo>
                <a:lnTo>
                  <a:pt x="208747" y="115754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4" name="Shape 52"/>
          <p:cNvSpPr/>
          <p:nvPr/>
        </p:nvSpPr>
        <p:spPr>
          <a:xfrm>
            <a:off x="7481832" y="5280837"/>
            <a:ext cx="1851837" cy="1240465"/>
          </a:xfrm>
          <a:custGeom>
            <a:avLst/>
            <a:gdLst/>
            <a:ahLst/>
            <a:cxnLst/>
            <a:rect l="l" t="t" r="r" b="b"/>
            <a:pathLst>
              <a:path w="1851837" h="1240465">
                <a:moveTo>
                  <a:pt x="70880" y="0"/>
                </a:moveTo>
                <a:lnTo>
                  <a:pt x="1780957" y="0"/>
                </a:lnTo>
                <a:cubicBezTo>
                  <a:pt x="1820103" y="0"/>
                  <a:pt x="1851837" y="31734"/>
                  <a:pt x="1851837" y="70880"/>
                </a:cubicBezTo>
                <a:lnTo>
                  <a:pt x="1851837" y="1169585"/>
                </a:lnTo>
                <a:cubicBezTo>
                  <a:pt x="1851837" y="1208731"/>
                  <a:pt x="1820103" y="1240465"/>
                  <a:pt x="1780957" y="1240465"/>
                </a:cubicBezTo>
                <a:lnTo>
                  <a:pt x="70880" y="1240465"/>
                </a:lnTo>
                <a:cubicBezTo>
                  <a:pt x="31734" y="1240465"/>
                  <a:pt x="0" y="1208731"/>
                  <a:pt x="0" y="1169585"/>
                </a:cubicBezTo>
                <a:lnTo>
                  <a:pt x="0" y="70880"/>
                </a:lnTo>
                <a:cubicBezTo>
                  <a:pt x="0" y="31760"/>
                  <a:pt x="31760" y="0"/>
                  <a:pt x="708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9572" y="538716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177209" y="0"/>
                </a:moveTo>
                <a:lnTo>
                  <a:pt x="177209" y="0"/>
                </a:lnTo>
                <a:cubicBezTo>
                  <a:pt x="275014" y="0"/>
                  <a:pt x="354419" y="79405"/>
                  <a:pt x="354419" y="177209"/>
                </a:cubicBezTo>
                <a:lnTo>
                  <a:pt x="354419" y="177209"/>
                </a:lnTo>
                <a:cubicBezTo>
                  <a:pt x="354419" y="275014"/>
                  <a:pt x="275014" y="354419"/>
                  <a:pt x="177209" y="354419"/>
                </a:cubicBezTo>
                <a:lnTo>
                  <a:pt x="177209" y="354419"/>
                </a:lnTo>
                <a:cubicBezTo>
                  <a:pt x="79405" y="354419"/>
                  <a:pt x="0" y="275014"/>
                  <a:pt x="0" y="177209"/>
                </a:cubicBezTo>
                <a:lnTo>
                  <a:pt x="0" y="177209"/>
                </a:lnTo>
                <a:cubicBezTo>
                  <a:pt x="0" y="79405"/>
                  <a:pt x="79405" y="0"/>
                  <a:pt x="177209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324961" y="5440326"/>
            <a:ext cx="15948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52716" y="5812465"/>
            <a:ext cx="1710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Cost-XGBoost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57146" y="6060558"/>
            <a:ext cx="1701209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with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scale_pos_weight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464777" y="579474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208747" y="115712"/>
                </a:moveTo>
                <a:cubicBezTo>
                  <a:pt x="213939" y="110520"/>
                  <a:pt x="213939" y="102089"/>
                  <a:pt x="208747" y="96897"/>
                </a:cubicBezTo>
                <a:lnTo>
                  <a:pt x="142294" y="30444"/>
                </a:lnTo>
                <a:cubicBezTo>
                  <a:pt x="137102" y="25252"/>
                  <a:pt x="128671" y="25252"/>
                  <a:pt x="123479" y="30444"/>
                </a:cubicBezTo>
                <a:cubicBezTo>
                  <a:pt x="118287" y="35636"/>
                  <a:pt x="118287" y="44067"/>
                  <a:pt x="123479" y="49259"/>
                </a:cubicBezTo>
                <a:lnTo>
                  <a:pt x="167255" y="93035"/>
                </a:lnTo>
                <a:lnTo>
                  <a:pt x="13291" y="93035"/>
                </a:lnTo>
                <a:cubicBezTo>
                  <a:pt x="5939" y="93035"/>
                  <a:pt x="0" y="98974"/>
                  <a:pt x="0" y="106326"/>
                </a:cubicBezTo>
                <a:cubicBezTo>
                  <a:pt x="0" y="113677"/>
                  <a:pt x="5939" y="119616"/>
                  <a:pt x="13291" y="119616"/>
                </a:cubicBezTo>
                <a:lnTo>
                  <a:pt x="167255" y="119616"/>
                </a:lnTo>
                <a:lnTo>
                  <a:pt x="123479" y="163393"/>
                </a:lnTo>
                <a:cubicBezTo>
                  <a:pt x="118287" y="168584"/>
                  <a:pt x="118287" y="177015"/>
                  <a:pt x="123479" y="182207"/>
                </a:cubicBezTo>
                <a:cubicBezTo>
                  <a:pt x="128671" y="187399"/>
                  <a:pt x="137102" y="187399"/>
                  <a:pt x="142294" y="182207"/>
                </a:cubicBezTo>
                <a:lnTo>
                  <a:pt x="208747" y="115754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0" name="Shape 58"/>
          <p:cNvSpPr/>
          <p:nvPr/>
        </p:nvSpPr>
        <p:spPr>
          <a:xfrm>
            <a:off x="9819195" y="5271977"/>
            <a:ext cx="1869558" cy="1258186"/>
          </a:xfrm>
          <a:custGeom>
            <a:avLst/>
            <a:gdLst/>
            <a:ahLst/>
            <a:cxnLst/>
            <a:rect l="l" t="t" r="r" b="b"/>
            <a:pathLst>
              <a:path w="1869558" h="1258186">
                <a:moveTo>
                  <a:pt x="70886" y="0"/>
                </a:moveTo>
                <a:lnTo>
                  <a:pt x="1798672" y="0"/>
                </a:lnTo>
                <a:cubicBezTo>
                  <a:pt x="1837821" y="0"/>
                  <a:pt x="1869558" y="31737"/>
                  <a:pt x="1869558" y="70886"/>
                </a:cubicBezTo>
                <a:lnTo>
                  <a:pt x="1869558" y="1187300"/>
                </a:lnTo>
                <a:cubicBezTo>
                  <a:pt x="1869558" y="1226449"/>
                  <a:pt x="1837821" y="1258186"/>
                  <a:pt x="1798672" y="1258186"/>
                </a:cubicBezTo>
                <a:lnTo>
                  <a:pt x="70886" y="1258186"/>
                </a:lnTo>
                <a:cubicBezTo>
                  <a:pt x="31737" y="1258186"/>
                  <a:pt x="0" y="1226449"/>
                  <a:pt x="0" y="1187300"/>
                </a:cubicBezTo>
                <a:lnTo>
                  <a:pt x="0" y="70886"/>
                </a:lnTo>
                <a:cubicBezTo>
                  <a:pt x="0" y="31763"/>
                  <a:pt x="31763" y="0"/>
                  <a:pt x="70886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25400">
            <a:solidFill>
              <a:srgbClr val="38A3A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75796" y="538716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177209" y="0"/>
                </a:moveTo>
                <a:lnTo>
                  <a:pt x="177209" y="0"/>
                </a:lnTo>
                <a:cubicBezTo>
                  <a:pt x="275014" y="0"/>
                  <a:pt x="354419" y="79405"/>
                  <a:pt x="354419" y="177209"/>
                </a:cubicBezTo>
                <a:lnTo>
                  <a:pt x="354419" y="177209"/>
                </a:lnTo>
                <a:cubicBezTo>
                  <a:pt x="354419" y="275014"/>
                  <a:pt x="275014" y="354419"/>
                  <a:pt x="177209" y="354419"/>
                </a:cubicBezTo>
                <a:lnTo>
                  <a:pt x="177209" y="354419"/>
                </a:lnTo>
                <a:cubicBezTo>
                  <a:pt x="79405" y="354419"/>
                  <a:pt x="0" y="275014"/>
                  <a:pt x="0" y="177209"/>
                </a:cubicBezTo>
                <a:lnTo>
                  <a:pt x="0" y="177209"/>
                </a:lnTo>
                <a:cubicBezTo>
                  <a:pt x="0" y="79405"/>
                  <a:pt x="79405" y="0"/>
                  <a:pt x="177209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675614" y="5440326"/>
            <a:ext cx="15062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6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898939" y="5812465"/>
            <a:ext cx="1710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03370" y="6060558"/>
            <a:ext cx="1701209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Metrics: Recall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F1, AUC-ROC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08. Performance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Comparative Results: Phase III vs Phase IV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81100"/>
            <a:ext cx="5600700" cy="3467100"/>
          </a:xfrm>
          <a:custGeom>
            <a:avLst/>
            <a:gdLst/>
            <a:ahLst/>
            <a:cxnLst/>
            <a:rect l="l" t="t" r="r" b="b"/>
            <a:pathLst>
              <a:path w="5600700" h="346710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3390893"/>
                </a:lnTo>
                <a:cubicBezTo>
                  <a:pt x="5600700" y="3432981"/>
                  <a:pt x="5566581" y="3467100"/>
                  <a:pt x="5524493" y="3467100"/>
                </a:cubicBezTo>
                <a:lnTo>
                  <a:pt x="76207" y="3467100"/>
                </a:lnTo>
                <a:cubicBezTo>
                  <a:pt x="34119" y="3467100"/>
                  <a:pt x="0" y="3432981"/>
                  <a:pt x="0" y="33908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9119" y="13716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7" name="Text 5"/>
          <p:cNvSpPr/>
          <p:nvPr/>
        </p:nvSpPr>
        <p:spPr>
          <a:xfrm>
            <a:off x="771525" y="13335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 Comparison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714500"/>
            <a:ext cx="2571750" cy="1733550"/>
          </a:xfrm>
          <a:custGeom>
            <a:avLst/>
            <a:gdLst/>
            <a:ahLst/>
            <a:cxnLst/>
            <a:rect l="l" t="t" r="r" b="b"/>
            <a:pathLst>
              <a:path w="2571750" h="1733550">
                <a:moveTo>
                  <a:pt x="76207" y="0"/>
                </a:moveTo>
                <a:lnTo>
                  <a:pt x="2495543" y="0"/>
                </a:lnTo>
                <a:cubicBezTo>
                  <a:pt x="2537631" y="0"/>
                  <a:pt x="2571750" y="34119"/>
                  <a:pt x="2571750" y="76207"/>
                </a:cubicBezTo>
                <a:lnTo>
                  <a:pt x="2571750" y="1657343"/>
                </a:lnTo>
                <a:cubicBezTo>
                  <a:pt x="2571750" y="1699431"/>
                  <a:pt x="2537631" y="1733550"/>
                  <a:pt x="249554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8288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(SMOTE)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" y="2133600"/>
            <a:ext cx="1152525" cy="571500"/>
          </a:xfrm>
          <a:custGeom>
            <a:avLst/>
            <a:gdLst/>
            <a:ahLst/>
            <a:cxnLst/>
            <a:rect l="l" t="t" r="r" b="b"/>
            <a:pathLst>
              <a:path w="1152525" h="571500">
                <a:moveTo>
                  <a:pt x="38102" y="0"/>
                </a:moveTo>
                <a:lnTo>
                  <a:pt x="1114423" y="0"/>
                </a:lnTo>
                <a:cubicBezTo>
                  <a:pt x="1135466" y="0"/>
                  <a:pt x="1152525" y="17059"/>
                  <a:pt x="1152525" y="38102"/>
                </a:cubicBezTo>
                <a:lnTo>
                  <a:pt x="1152525" y="533398"/>
                </a:lnTo>
                <a:cubicBezTo>
                  <a:pt x="1152525" y="554441"/>
                  <a:pt x="1135466" y="571500"/>
                  <a:pt x="11144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5325" y="220980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038" y="23622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38325" y="2133600"/>
            <a:ext cx="1152525" cy="571500"/>
          </a:xfrm>
          <a:custGeom>
            <a:avLst/>
            <a:gdLst/>
            <a:ahLst/>
            <a:cxnLst/>
            <a:rect l="l" t="t" r="r" b="b"/>
            <a:pathLst>
              <a:path w="1152525" h="571500">
                <a:moveTo>
                  <a:pt x="38102" y="0"/>
                </a:moveTo>
                <a:lnTo>
                  <a:pt x="1114423" y="0"/>
                </a:lnTo>
                <a:cubicBezTo>
                  <a:pt x="1135466" y="0"/>
                  <a:pt x="1152525" y="17059"/>
                  <a:pt x="1152525" y="38102"/>
                </a:cubicBezTo>
                <a:lnTo>
                  <a:pt x="1152525" y="533398"/>
                </a:lnTo>
                <a:cubicBezTo>
                  <a:pt x="1152525" y="554441"/>
                  <a:pt x="1135466" y="571500"/>
                  <a:pt x="11144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885950" y="220980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1663" y="23622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7700" y="2743200"/>
            <a:ext cx="1152525" cy="571500"/>
          </a:xfrm>
          <a:custGeom>
            <a:avLst/>
            <a:gdLst/>
            <a:ahLst/>
            <a:cxnLst/>
            <a:rect l="l" t="t" r="r" b="b"/>
            <a:pathLst>
              <a:path w="1152525" h="571500">
                <a:moveTo>
                  <a:pt x="38102" y="0"/>
                </a:moveTo>
                <a:lnTo>
                  <a:pt x="1114423" y="0"/>
                </a:lnTo>
                <a:cubicBezTo>
                  <a:pt x="1135466" y="0"/>
                  <a:pt x="1152525" y="17059"/>
                  <a:pt x="1152525" y="38102"/>
                </a:cubicBezTo>
                <a:lnTo>
                  <a:pt x="1152525" y="533398"/>
                </a:lnTo>
                <a:cubicBezTo>
                  <a:pt x="1152525" y="554441"/>
                  <a:pt x="1135466" y="571500"/>
                  <a:pt x="11144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5325" y="281940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038" y="29718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38325" y="2743200"/>
            <a:ext cx="1152525" cy="571500"/>
          </a:xfrm>
          <a:custGeom>
            <a:avLst/>
            <a:gdLst/>
            <a:ahLst/>
            <a:cxnLst/>
            <a:rect l="l" t="t" r="r" b="b"/>
            <a:pathLst>
              <a:path w="1152525" h="571500">
                <a:moveTo>
                  <a:pt x="38102" y="0"/>
                </a:moveTo>
                <a:lnTo>
                  <a:pt x="1114423" y="0"/>
                </a:lnTo>
                <a:cubicBezTo>
                  <a:pt x="1135466" y="0"/>
                  <a:pt x="1152525" y="17059"/>
                  <a:pt x="1152525" y="38102"/>
                </a:cubicBezTo>
                <a:lnTo>
                  <a:pt x="1152525" y="533398"/>
                </a:lnTo>
                <a:cubicBezTo>
                  <a:pt x="1152525" y="554441"/>
                  <a:pt x="1135466" y="571500"/>
                  <a:pt x="11144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85950" y="281940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1663" y="29718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2313" y="1719263"/>
            <a:ext cx="2562225" cy="1724025"/>
          </a:xfrm>
          <a:custGeom>
            <a:avLst/>
            <a:gdLst/>
            <a:ahLst/>
            <a:cxnLst/>
            <a:rect l="l" t="t" r="r" b="b"/>
            <a:pathLst>
              <a:path w="2562225" h="1724025">
                <a:moveTo>
                  <a:pt x="76202" y="0"/>
                </a:moveTo>
                <a:lnTo>
                  <a:pt x="2486023" y="0"/>
                </a:lnTo>
                <a:cubicBezTo>
                  <a:pt x="2528108" y="0"/>
                  <a:pt x="2562225" y="34117"/>
                  <a:pt x="2562225" y="76202"/>
                </a:cubicBezTo>
                <a:lnTo>
                  <a:pt x="2562225" y="1647823"/>
                </a:lnTo>
                <a:cubicBezTo>
                  <a:pt x="2562225" y="1689908"/>
                  <a:pt x="2528108" y="1724025"/>
                  <a:pt x="248602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3275" y="18383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 (ADASYN)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81375" y="214312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38102" y="0"/>
                </a:moveTo>
                <a:lnTo>
                  <a:pt x="1104898" y="0"/>
                </a:lnTo>
                <a:cubicBezTo>
                  <a:pt x="1125941" y="0"/>
                  <a:pt x="1143000" y="17059"/>
                  <a:pt x="1143000" y="38102"/>
                </a:cubicBezTo>
                <a:lnTo>
                  <a:pt x="1143000" y="533398"/>
                </a:lnTo>
                <a:cubicBezTo>
                  <a:pt x="1143000" y="554441"/>
                  <a:pt x="1125941" y="571500"/>
                  <a:pt x="1104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2193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14713" y="237172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69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62475" y="214312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38102" y="0"/>
                </a:moveTo>
                <a:lnTo>
                  <a:pt x="1104898" y="0"/>
                </a:lnTo>
                <a:cubicBezTo>
                  <a:pt x="1125941" y="0"/>
                  <a:pt x="1143000" y="17059"/>
                  <a:pt x="1143000" y="38102"/>
                </a:cubicBezTo>
                <a:lnTo>
                  <a:pt x="1143000" y="533398"/>
                </a:lnTo>
                <a:cubicBezTo>
                  <a:pt x="1143000" y="554441"/>
                  <a:pt x="1125941" y="571500"/>
                  <a:pt x="1104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610100" y="22193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95813" y="237172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81375" y="275272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38102" y="0"/>
                </a:moveTo>
                <a:lnTo>
                  <a:pt x="1104898" y="0"/>
                </a:lnTo>
                <a:cubicBezTo>
                  <a:pt x="1125941" y="0"/>
                  <a:pt x="1143000" y="17059"/>
                  <a:pt x="1143000" y="38102"/>
                </a:cubicBezTo>
                <a:lnTo>
                  <a:pt x="1143000" y="533398"/>
                </a:lnTo>
                <a:cubicBezTo>
                  <a:pt x="1143000" y="554441"/>
                  <a:pt x="1125941" y="571500"/>
                  <a:pt x="1104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6467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8289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14713" y="298132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62475" y="275272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38102" y="0"/>
                </a:moveTo>
                <a:lnTo>
                  <a:pt x="1104898" y="0"/>
                </a:lnTo>
                <a:cubicBezTo>
                  <a:pt x="1125941" y="0"/>
                  <a:pt x="1143000" y="17059"/>
                  <a:pt x="1143000" y="38102"/>
                </a:cubicBezTo>
                <a:lnTo>
                  <a:pt x="1143000" y="533398"/>
                </a:lnTo>
                <a:cubicBezTo>
                  <a:pt x="1143000" y="554441"/>
                  <a:pt x="1125941" y="571500"/>
                  <a:pt x="1104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610100" y="28289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95813" y="298132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8163" y="3567113"/>
            <a:ext cx="5286375" cy="695325"/>
          </a:xfrm>
          <a:custGeom>
            <a:avLst/>
            <a:gdLst/>
            <a:ahLst/>
            <a:cxnLst/>
            <a:rect l="l" t="t" r="r" b="b"/>
            <a:pathLst>
              <a:path w="5286375" h="695325">
                <a:moveTo>
                  <a:pt x="76201" y="0"/>
                </a:moveTo>
                <a:lnTo>
                  <a:pt x="5210174" y="0"/>
                </a:lnTo>
                <a:cubicBezTo>
                  <a:pt x="5252259" y="0"/>
                  <a:pt x="5286375" y="34116"/>
                  <a:pt x="5286375" y="76201"/>
                </a:cubicBezTo>
                <a:lnTo>
                  <a:pt x="5286375" y="619124"/>
                </a:lnTo>
                <a:cubicBezTo>
                  <a:pt x="5286375" y="661209"/>
                  <a:pt x="5252259" y="695325"/>
                  <a:pt x="52101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275" y="3724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8" name="Text 36"/>
          <p:cNvSpPr/>
          <p:nvPr/>
        </p:nvSpPr>
        <p:spPr>
          <a:xfrm>
            <a:off x="904875" y="3686175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Improvement: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False Negatives reduced from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→ 2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(50% reduction)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1181100"/>
            <a:ext cx="5600700" cy="3467100"/>
          </a:xfrm>
          <a:custGeom>
            <a:avLst/>
            <a:gdLst/>
            <a:ahLst/>
            <a:cxnLst/>
            <a:rect l="l" t="t" r="r" b="b"/>
            <a:pathLst>
              <a:path w="5600700" h="3467100">
                <a:moveTo>
                  <a:pt x="76207" y="0"/>
                </a:moveTo>
                <a:lnTo>
                  <a:pt x="5524493" y="0"/>
                </a:lnTo>
                <a:cubicBezTo>
                  <a:pt x="5566581" y="0"/>
                  <a:pt x="5600700" y="34119"/>
                  <a:pt x="5600700" y="76207"/>
                </a:cubicBezTo>
                <a:lnTo>
                  <a:pt x="5600700" y="3390893"/>
                </a:lnTo>
                <a:cubicBezTo>
                  <a:pt x="5600700" y="3432981"/>
                  <a:pt x="5566581" y="3467100"/>
                  <a:pt x="5524493" y="3467100"/>
                </a:cubicBezTo>
                <a:lnTo>
                  <a:pt x="76207" y="3467100"/>
                </a:lnTo>
                <a:cubicBezTo>
                  <a:pt x="34119" y="3467100"/>
                  <a:pt x="0" y="3432981"/>
                  <a:pt x="0" y="33908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62700" y="13335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 Comparison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2700" y="1714500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76203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77000" y="18288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(Sensitivity)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77000" y="209550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95250" y="0"/>
                </a:moveTo>
                <a:lnTo>
                  <a:pt x="2228850" y="0"/>
                </a:lnTo>
                <a:cubicBezTo>
                  <a:pt x="2281420" y="0"/>
                  <a:pt x="2324100" y="42680"/>
                  <a:pt x="2324100" y="95250"/>
                </a:cubicBezTo>
                <a:lnTo>
                  <a:pt x="2324100" y="95250"/>
                </a:lnTo>
                <a:cubicBezTo>
                  <a:pt x="2324100" y="147820"/>
                  <a:pt x="2281420" y="190500"/>
                  <a:pt x="2228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7000" y="2095500"/>
            <a:ext cx="2105025" cy="190500"/>
          </a:xfrm>
          <a:custGeom>
            <a:avLst/>
            <a:gdLst/>
            <a:ahLst/>
            <a:cxnLst/>
            <a:rect l="l" t="t" r="r" b="b"/>
            <a:pathLst>
              <a:path w="2105025" h="190500">
                <a:moveTo>
                  <a:pt x="95250" y="0"/>
                </a:moveTo>
                <a:lnTo>
                  <a:pt x="2009775" y="0"/>
                </a:lnTo>
                <a:cubicBezTo>
                  <a:pt x="2062345" y="0"/>
                  <a:pt x="2105025" y="42680"/>
                  <a:pt x="2105025" y="95250"/>
                </a:cubicBezTo>
                <a:lnTo>
                  <a:pt x="2105025" y="95250"/>
                </a:lnTo>
                <a:cubicBezTo>
                  <a:pt x="2105025" y="147820"/>
                  <a:pt x="2062345" y="190500"/>
                  <a:pt x="20097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5" name="Text 43"/>
          <p:cNvSpPr/>
          <p:nvPr/>
        </p:nvSpPr>
        <p:spPr>
          <a:xfrm>
            <a:off x="8191798" y="2114550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90.7%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34450" y="2114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7" name="Shape 45"/>
          <p:cNvSpPr/>
          <p:nvPr/>
        </p:nvSpPr>
        <p:spPr>
          <a:xfrm>
            <a:off x="9220200" y="209550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95250" y="0"/>
                </a:moveTo>
                <a:lnTo>
                  <a:pt x="2228850" y="0"/>
                </a:lnTo>
                <a:cubicBezTo>
                  <a:pt x="2281420" y="0"/>
                  <a:pt x="2324100" y="42680"/>
                  <a:pt x="2324100" y="95250"/>
                </a:cubicBezTo>
                <a:lnTo>
                  <a:pt x="2324100" y="95250"/>
                </a:lnTo>
                <a:cubicBezTo>
                  <a:pt x="2324100" y="147820"/>
                  <a:pt x="2281420" y="190500"/>
                  <a:pt x="2228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220200" y="2095500"/>
            <a:ext cx="2219325" cy="190500"/>
          </a:xfrm>
          <a:custGeom>
            <a:avLst/>
            <a:gdLst/>
            <a:ahLst/>
            <a:cxnLst/>
            <a:rect l="l" t="t" r="r" b="b"/>
            <a:pathLst>
              <a:path w="2219325" h="190500">
                <a:moveTo>
                  <a:pt x="95250" y="0"/>
                </a:moveTo>
                <a:lnTo>
                  <a:pt x="2124075" y="0"/>
                </a:lnTo>
                <a:cubicBezTo>
                  <a:pt x="2176645" y="0"/>
                  <a:pt x="2219325" y="42680"/>
                  <a:pt x="2219325" y="95250"/>
                </a:cubicBezTo>
                <a:lnTo>
                  <a:pt x="2219325" y="95250"/>
                </a:lnTo>
                <a:cubicBezTo>
                  <a:pt x="2219325" y="147820"/>
                  <a:pt x="2176645" y="190500"/>
                  <a:pt x="21240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9" name="Text 47"/>
          <p:cNvSpPr/>
          <p:nvPr/>
        </p:nvSpPr>
        <p:spPr>
          <a:xfrm>
            <a:off x="11040219" y="2114550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95.3%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19850" y="23241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vs Phase IV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2700" y="2667000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76203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77000" y="27813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77000" y="304800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95250" y="0"/>
                </a:moveTo>
                <a:lnTo>
                  <a:pt x="2228850" y="0"/>
                </a:lnTo>
                <a:cubicBezTo>
                  <a:pt x="2281420" y="0"/>
                  <a:pt x="2324100" y="42680"/>
                  <a:pt x="2324100" y="95250"/>
                </a:cubicBezTo>
                <a:lnTo>
                  <a:pt x="2324100" y="95250"/>
                </a:lnTo>
                <a:cubicBezTo>
                  <a:pt x="2324100" y="147820"/>
                  <a:pt x="2281420" y="190500"/>
                  <a:pt x="2228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7000" y="3048000"/>
            <a:ext cx="2162175" cy="190500"/>
          </a:xfrm>
          <a:custGeom>
            <a:avLst/>
            <a:gdLst/>
            <a:ahLst/>
            <a:cxnLst/>
            <a:rect l="l" t="t" r="r" b="b"/>
            <a:pathLst>
              <a:path w="2162175" h="190500">
                <a:moveTo>
                  <a:pt x="95250" y="0"/>
                </a:moveTo>
                <a:lnTo>
                  <a:pt x="2066925" y="0"/>
                </a:lnTo>
                <a:cubicBezTo>
                  <a:pt x="2119495" y="0"/>
                  <a:pt x="2162175" y="42680"/>
                  <a:pt x="2162175" y="95250"/>
                </a:cubicBezTo>
                <a:lnTo>
                  <a:pt x="2162175" y="95250"/>
                </a:lnTo>
                <a:cubicBezTo>
                  <a:pt x="2162175" y="147820"/>
                  <a:pt x="2119495" y="190500"/>
                  <a:pt x="20669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5" name="Text 53"/>
          <p:cNvSpPr/>
          <p:nvPr/>
        </p:nvSpPr>
        <p:spPr>
          <a:xfrm>
            <a:off x="8239720" y="30670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92.9%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934450" y="3067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7" name="Shape 55"/>
          <p:cNvSpPr/>
          <p:nvPr/>
        </p:nvSpPr>
        <p:spPr>
          <a:xfrm>
            <a:off x="9220200" y="304800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95250" y="0"/>
                </a:moveTo>
                <a:lnTo>
                  <a:pt x="2228850" y="0"/>
                </a:lnTo>
                <a:cubicBezTo>
                  <a:pt x="2281420" y="0"/>
                  <a:pt x="2324100" y="42680"/>
                  <a:pt x="2324100" y="95250"/>
                </a:cubicBezTo>
                <a:lnTo>
                  <a:pt x="2324100" y="95250"/>
                </a:lnTo>
                <a:cubicBezTo>
                  <a:pt x="2324100" y="147820"/>
                  <a:pt x="2281420" y="190500"/>
                  <a:pt x="2228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20200" y="3048000"/>
            <a:ext cx="2219325" cy="190500"/>
          </a:xfrm>
          <a:custGeom>
            <a:avLst/>
            <a:gdLst/>
            <a:ahLst/>
            <a:cxnLst/>
            <a:rect l="l" t="t" r="r" b="b"/>
            <a:pathLst>
              <a:path w="2219325" h="190500">
                <a:moveTo>
                  <a:pt x="95250" y="0"/>
                </a:moveTo>
                <a:lnTo>
                  <a:pt x="2124075" y="0"/>
                </a:lnTo>
                <a:cubicBezTo>
                  <a:pt x="2176645" y="0"/>
                  <a:pt x="2219325" y="42680"/>
                  <a:pt x="2219325" y="95250"/>
                </a:cubicBezTo>
                <a:lnTo>
                  <a:pt x="2219325" y="95250"/>
                </a:lnTo>
                <a:cubicBezTo>
                  <a:pt x="2219325" y="147820"/>
                  <a:pt x="2176645" y="190500"/>
                  <a:pt x="21240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9" name="Text 57"/>
          <p:cNvSpPr/>
          <p:nvPr/>
        </p:nvSpPr>
        <p:spPr>
          <a:xfrm>
            <a:off x="11040219" y="3067050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95.3%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19850" y="32766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vs Phase IV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62700" y="3619500"/>
            <a:ext cx="5295900" cy="876300"/>
          </a:xfrm>
          <a:custGeom>
            <a:avLst/>
            <a:gdLst/>
            <a:ahLst/>
            <a:cxnLst/>
            <a:rect l="l" t="t" r="r" b="b"/>
            <a:pathLst>
              <a:path w="5295900" h="876300">
                <a:moveTo>
                  <a:pt x="76203" y="0"/>
                </a:moveTo>
                <a:lnTo>
                  <a:pt x="5219697" y="0"/>
                </a:lnTo>
                <a:cubicBezTo>
                  <a:pt x="5261783" y="0"/>
                  <a:pt x="5295900" y="34117"/>
                  <a:pt x="5295900" y="76203"/>
                </a:cubicBezTo>
                <a:lnTo>
                  <a:pt x="5295900" y="800097"/>
                </a:lnTo>
                <a:cubicBezTo>
                  <a:pt x="5295900" y="842183"/>
                  <a:pt x="5261783" y="876300"/>
                  <a:pt x="52196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77000" y="37338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477000" y="400050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95250" y="0"/>
                </a:moveTo>
                <a:lnTo>
                  <a:pt x="2228850" y="0"/>
                </a:lnTo>
                <a:cubicBezTo>
                  <a:pt x="2281420" y="0"/>
                  <a:pt x="2324100" y="42680"/>
                  <a:pt x="2324100" y="95250"/>
                </a:cubicBezTo>
                <a:lnTo>
                  <a:pt x="2324100" y="95250"/>
                </a:lnTo>
                <a:cubicBezTo>
                  <a:pt x="2324100" y="147820"/>
                  <a:pt x="2281420" y="190500"/>
                  <a:pt x="2228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77000" y="4000500"/>
            <a:ext cx="2133600" cy="190500"/>
          </a:xfrm>
          <a:custGeom>
            <a:avLst/>
            <a:gdLst/>
            <a:ahLst/>
            <a:cxnLst/>
            <a:rect l="l" t="t" r="r" b="b"/>
            <a:pathLst>
              <a:path w="2133600" h="190500">
                <a:moveTo>
                  <a:pt x="95250" y="0"/>
                </a:moveTo>
                <a:lnTo>
                  <a:pt x="2038350" y="0"/>
                </a:lnTo>
                <a:cubicBezTo>
                  <a:pt x="2090920" y="0"/>
                  <a:pt x="2133600" y="42680"/>
                  <a:pt x="2133600" y="95250"/>
                </a:cubicBezTo>
                <a:lnTo>
                  <a:pt x="2133600" y="95250"/>
                </a:lnTo>
                <a:cubicBezTo>
                  <a:pt x="2133600" y="147820"/>
                  <a:pt x="2090920" y="190500"/>
                  <a:pt x="20383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5" name="Text 63"/>
          <p:cNvSpPr/>
          <p:nvPr/>
        </p:nvSpPr>
        <p:spPr>
          <a:xfrm>
            <a:off x="8233023" y="4019550"/>
            <a:ext cx="361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91.8%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934450" y="4019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7" name="Shape 65"/>
          <p:cNvSpPr/>
          <p:nvPr/>
        </p:nvSpPr>
        <p:spPr>
          <a:xfrm>
            <a:off x="9220200" y="400050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95250" y="0"/>
                </a:moveTo>
                <a:lnTo>
                  <a:pt x="2228850" y="0"/>
                </a:lnTo>
                <a:cubicBezTo>
                  <a:pt x="2281420" y="0"/>
                  <a:pt x="2324100" y="42680"/>
                  <a:pt x="2324100" y="95250"/>
                </a:cubicBezTo>
                <a:lnTo>
                  <a:pt x="2324100" y="95250"/>
                </a:lnTo>
                <a:cubicBezTo>
                  <a:pt x="2324100" y="147820"/>
                  <a:pt x="2281420" y="190500"/>
                  <a:pt x="2228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20200" y="4000500"/>
            <a:ext cx="2219325" cy="190500"/>
          </a:xfrm>
          <a:custGeom>
            <a:avLst/>
            <a:gdLst/>
            <a:ahLst/>
            <a:cxnLst/>
            <a:rect l="l" t="t" r="r" b="b"/>
            <a:pathLst>
              <a:path w="2219325" h="190500">
                <a:moveTo>
                  <a:pt x="95250" y="0"/>
                </a:moveTo>
                <a:lnTo>
                  <a:pt x="2124075" y="0"/>
                </a:lnTo>
                <a:cubicBezTo>
                  <a:pt x="2176645" y="0"/>
                  <a:pt x="2219325" y="42680"/>
                  <a:pt x="2219325" y="95250"/>
                </a:cubicBezTo>
                <a:lnTo>
                  <a:pt x="2219325" y="95250"/>
                </a:lnTo>
                <a:cubicBezTo>
                  <a:pt x="2219325" y="147820"/>
                  <a:pt x="2176645" y="190500"/>
                  <a:pt x="21240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69" name="Text 67"/>
          <p:cNvSpPr/>
          <p:nvPr/>
        </p:nvSpPr>
        <p:spPr>
          <a:xfrm>
            <a:off x="11040219" y="4019550"/>
            <a:ext cx="371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95.3%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19850" y="4229100"/>
            <a:ext cx="512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 vs Phase IV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85763" y="4805363"/>
            <a:ext cx="3695700" cy="1381125"/>
          </a:xfrm>
          <a:custGeom>
            <a:avLst/>
            <a:gdLst/>
            <a:ahLst/>
            <a:cxnLst/>
            <a:rect l="l" t="t" r="r" b="b"/>
            <a:pathLst>
              <a:path w="3695700" h="1381125">
                <a:moveTo>
                  <a:pt x="76197" y="0"/>
                </a:moveTo>
                <a:lnTo>
                  <a:pt x="3619503" y="0"/>
                </a:lnTo>
                <a:cubicBezTo>
                  <a:pt x="3661586" y="0"/>
                  <a:pt x="3695700" y="34114"/>
                  <a:pt x="3695700" y="76197"/>
                </a:cubicBezTo>
                <a:lnTo>
                  <a:pt x="3695700" y="1304928"/>
                </a:lnTo>
                <a:cubicBezTo>
                  <a:pt x="3695700" y="1347011"/>
                  <a:pt x="3661586" y="1381125"/>
                  <a:pt x="3619503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8169" y="50101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71862" y="5827"/>
                </a:moveTo>
                <a:cubicBezTo>
                  <a:pt x="67676" y="1641"/>
                  <a:pt x="60878" y="1641"/>
                  <a:pt x="56692" y="5827"/>
                </a:cubicBezTo>
                <a:lnTo>
                  <a:pt x="3114" y="59405"/>
                </a:lnTo>
                <a:cubicBezTo>
                  <a:pt x="-1072" y="63591"/>
                  <a:pt x="-1072" y="70388"/>
                  <a:pt x="3114" y="74574"/>
                </a:cubicBezTo>
                <a:cubicBezTo>
                  <a:pt x="7300" y="78760"/>
                  <a:pt x="14098" y="78760"/>
                  <a:pt x="18284" y="74574"/>
                </a:cubicBezTo>
                <a:lnTo>
                  <a:pt x="53578" y="39279"/>
                </a:lnTo>
                <a:lnTo>
                  <a:pt x="53578" y="163413"/>
                </a:lnTo>
                <a:cubicBezTo>
                  <a:pt x="53578" y="169340"/>
                  <a:pt x="58367" y="174129"/>
                  <a:pt x="64294" y="174129"/>
                </a:cubicBezTo>
                <a:cubicBezTo>
                  <a:pt x="70221" y="174129"/>
                  <a:pt x="75009" y="169340"/>
                  <a:pt x="75009" y="163413"/>
                </a:cubicBezTo>
                <a:lnTo>
                  <a:pt x="75009" y="39279"/>
                </a:lnTo>
                <a:lnTo>
                  <a:pt x="110304" y="74574"/>
                </a:lnTo>
                <a:cubicBezTo>
                  <a:pt x="114490" y="78760"/>
                  <a:pt x="121287" y="78760"/>
                  <a:pt x="125473" y="74574"/>
                </a:cubicBezTo>
                <a:cubicBezTo>
                  <a:pt x="129659" y="70388"/>
                  <a:pt x="129659" y="63591"/>
                  <a:pt x="125473" y="59405"/>
                </a:cubicBezTo>
                <a:lnTo>
                  <a:pt x="71895" y="582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3" name="Text 71"/>
          <p:cNvSpPr/>
          <p:nvPr/>
        </p:nvSpPr>
        <p:spPr>
          <a:xfrm>
            <a:off x="762000" y="49625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 Improvement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760190" y="5372100"/>
            <a:ext cx="94997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+4.6%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09587" y="58388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malignant case detection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246513" y="4805363"/>
            <a:ext cx="3695700" cy="1381125"/>
          </a:xfrm>
          <a:custGeom>
            <a:avLst/>
            <a:gdLst/>
            <a:ahLst/>
            <a:cxnLst/>
            <a:rect l="l" t="t" r="r" b="b"/>
            <a:pathLst>
              <a:path w="3695700" h="1381125">
                <a:moveTo>
                  <a:pt x="76197" y="0"/>
                </a:moveTo>
                <a:lnTo>
                  <a:pt x="3619503" y="0"/>
                </a:lnTo>
                <a:cubicBezTo>
                  <a:pt x="3661586" y="0"/>
                  <a:pt x="3695700" y="34114"/>
                  <a:pt x="3695700" y="76197"/>
                </a:cubicBezTo>
                <a:lnTo>
                  <a:pt x="3695700" y="1304928"/>
                </a:lnTo>
                <a:cubicBezTo>
                  <a:pt x="3695700" y="1347011"/>
                  <a:pt x="3661586" y="1381125"/>
                  <a:pt x="3619503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427488" y="5010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6257" y="77688"/>
                </a:moveTo>
                <a:lnTo>
                  <a:pt x="115193" y="77688"/>
                </a:lnTo>
                <a:cubicBezTo>
                  <a:pt x="119647" y="77688"/>
                  <a:pt x="123230" y="81271"/>
                  <a:pt x="123230" y="85725"/>
                </a:cubicBezTo>
                <a:cubicBezTo>
                  <a:pt x="123230" y="90179"/>
                  <a:pt x="119647" y="93762"/>
                  <a:pt x="115193" y="93762"/>
                </a:cubicBezTo>
                <a:lnTo>
                  <a:pt x="56257" y="93762"/>
                </a:lnTo>
                <a:cubicBezTo>
                  <a:pt x="51803" y="93762"/>
                  <a:pt x="48220" y="90179"/>
                  <a:pt x="48220" y="85725"/>
                </a:cubicBezTo>
                <a:cubicBezTo>
                  <a:pt x="48220" y="81271"/>
                  <a:pt x="51803" y="77688"/>
                  <a:pt x="56257" y="77688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8" name="Text 76"/>
          <p:cNvSpPr/>
          <p:nvPr/>
        </p:nvSpPr>
        <p:spPr>
          <a:xfrm>
            <a:off x="4622750" y="49625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 Reduction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669012" y="5372100"/>
            <a:ext cx="8538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-50%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370338" y="58388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4 to 2 false negatives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107263" y="4805363"/>
            <a:ext cx="3695700" cy="1381125"/>
          </a:xfrm>
          <a:custGeom>
            <a:avLst/>
            <a:gdLst/>
            <a:ahLst/>
            <a:cxnLst/>
            <a:rect l="l" t="t" r="r" b="b"/>
            <a:pathLst>
              <a:path w="3695700" h="1381125">
                <a:moveTo>
                  <a:pt x="76197" y="0"/>
                </a:moveTo>
                <a:lnTo>
                  <a:pt x="3619503" y="0"/>
                </a:lnTo>
                <a:cubicBezTo>
                  <a:pt x="3661586" y="0"/>
                  <a:pt x="3695700" y="34114"/>
                  <a:pt x="3695700" y="76197"/>
                </a:cubicBezTo>
                <a:lnTo>
                  <a:pt x="3695700" y="1304928"/>
                </a:lnTo>
                <a:cubicBezTo>
                  <a:pt x="3695700" y="1347011"/>
                  <a:pt x="3661586" y="1381125"/>
                  <a:pt x="3619503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38A3A5">
              <a:alpha val="1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88238" y="5010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83" name="Text 81"/>
          <p:cNvSpPr/>
          <p:nvPr/>
        </p:nvSpPr>
        <p:spPr>
          <a:xfrm>
            <a:off x="8483501" y="49625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AUC-ROC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785300" y="5372100"/>
            <a:ext cx="3429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↑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231088" y="58388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class separability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09. Clinical Significance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Clinical Impact &amp; Key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5581650" cy="3743325"/>
          </a:xfrm>
          <a:custGeom>
            <a:avLst/>
            <a:gdLst/>
            <a:ahLst/>
            <a:cxnLst/>
            <a:rect l="l" t="t" r="r" b="b"/>
            <a:pathLst>
              <a:path w="5581650" h="3743325">
                <a:moveTo>
                  <a:pt x="0" y="0"/>
                </a:moveTo>
                <a:lnTo>
                  <a:pt x="5505436" y="0"/>
                </a:lnTo>
                <a:cubicBezTo>
                  <a:pt x="5547528" y="0"/>
                  <a:pt x="5581650" y="34122"/>
                  <a:pt x="5581650" y="76214"/>
                </a:cubicBezTo>
                <a:lnTo>
                  <a:pt x="5581650" y="3667111"/>
                </a:lnTo>
                <a:cubicBezTo>
                  <a:pt x="5581650" y="3709203"/>
                  <a:pt x="5547528" y="3743325"/>
                  <a:pt x="5505436" y="3743325"/>
                </a:cubicBez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181100"/>
            <a:ext cx="38100" cy="3743325"/>
          </a:xfrm>
          <a:custGeom>
            <a:avLst/>
            <a:gdLst/>
            <a:ahLst/>
            <a:cxnLst/>
            <a:rect l="l" t="t" r="r" b="b"/>
            <a:pathLst>
              <a:path w="38100" h="3743325">
                <a:moveTo>
                  <a:pt x="0" y="0"/>
                </a:moveTo>
                <a:lnTo>
                  <a:pt x="38100" y="0"/>
                </a:lnTo>
                <a:lnTo>
                  <a:pt x="38100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7" name="Shape 5"/>
          <p:cNvSpPr/>
          <p:nvPr/>
        </p:nvSpPr>
        <p:spPr>
          <a:xfrm>
            <a:off x="5953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False Negatives Are Critical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714500"/>
            <a:ext cx="5257800" cy="933450"/>
          </a:xfrm>
          <a:custGeom>
            <a:avLst/>
            <a:gdLst/>
            <a:ahLst/>
            <a:cxnLst/>
            <a:rect l="l" t="t" r="r" b="b"/>
            <a:pathLst>
              <a:path w="5257800" h="933450">
                <a:moveTo>
                  <a:pt x="76198" y="0"/>
                </a:moveTo>
                <a:lnTo>
                  <a:pt x="5181602" y="0"/>
                </a:lnTo>
                <a:cubicBezTo>
                  <a:pt x="5223685" y="0"/>
                  <a:pt x="5257800" y="34115"/>
                  <a:pt x="5257800" y="76198"/>
                </a:cubicBezTo>
                <a:lnTo>
                  <a:pt x="5257800" y="857252"/>
                </a:lnTo>
                <a:cubicBezTo>
                  <a:pt x="5257800" y="899335"/>
                  <a:pt x="5223685" y="933450"/>
                  <a:pt x="51816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2463" y="1866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58115" y="-6667"/>
                </a:moveTo>
                <a:lnTo>
                  <a:pt x="170259" y="9525"/>
                </a:lnTo>
                <a:lnTo>
                  <a:pt x="183356" y="9525"/>
                </a:lnTo>
                <a:cubicBezTo>
                  <a:pt x="187315" y="9525"/>
                  <a:pt x="190500" y="12710"/>
                  <a:pt x="190500" y="16669"/>
                </a:cubicBezTo>
                <a:cubicBezTo>
                  <a:pt x="190500" y="20628"/>
                  <a:pt x="187315" y="23813"/>
                  <a:pt x="183356" y="23813"/>
                </a:cubicBezTo>
                <a:lnTo>
                  <a:pt x="166688" y="23813"/>
                </a:lnTo>
                <a:cubicBezTo>
                  <a:pt x="164425" y="23813"/>
                  <a:pt x="162312" y="22741"/>
                  <a:pt x="160973" y="20955"/>
                </a:cubicBezTo>
                <a:lnTo>
                  <a:pt x="153799" y="11400"/>
                </a:lnTo>
                <a:lnTo>
                  <a:pt x="139809" y="41136"/>
                </a:lnTo>
                <a:cubicBezTo>
                  <a:pt x="138708" y="43458"/>
                  <a:pt x="136446" y="45035"/>
                  <a:pt x="133886" y="45214"/>
                </a:cubicBezTo>
                <a:cubicBezTo>
                  <a:pt x="131326" y="45393"/>
                  <a:pt x="128855" y="44202"/>
                  <a:pt x="127427" y="42059"/>
                </a:cubicBezTo>
                <a:lnTo>
                  <a:pt x="115253" y="23813"/>
                </a:lnTo>
                <a:lnTo>
                  <a:pt x="102394" y="23813"/>
                </a:lnTo>
                <a:cubicBezTo>
                  <a:pt x="98435" y="23813"/>
                  <a:pt x="95250" y="20628"/>
                  <a:pt x="95250" y="16669"/>
                </a:cubicBezTo>
                <a:cubicBezTo>
                  <a:pt x="95250" y="12710"/>
                  <a:pt x="98435" y="9525"/>
                  <a:pt x="102394" y="9525"/>
                </a:cubicBezTo>
                <a:lnTo>
                  <a:pt x="119062" y="9525"/>
                </a:lnTo>
                <a:cubicBezTo>
                  <a:pt x="121444" y="9525"/>
                  <a:pt x="123676" y="10716"/>
                  <a:pt x="125016" y="12710"/>
                </a:cubicBezTo>
                <a:lnTo>
                  <a:pt x="132278" y="23604"/>
                </a:lnTo>
                <a:lnTo>
                  <a:pt x="145941" y="-5417"/>
                </a:lnTo>
                <a:cubicBezTo>
                  <a:pt x="147012" y="-7680"/>
                  <a:pt x="149185" y="-9227"/>
                  <a:pt x="151686" y="-9495"/>
                </a:cubicBezTo>
                <a:cubicBezTo>
                  <a:pt x="154186" y="-9763"/>
                  <a:pt x="156627" y="-8692"/>
                  <a:pt x="158115" y="-6667"/>
                </a:cubicBezTo>
                <a:close/>
                <a:moveTo>
                  <a:pt x="95250" y="47625"/>
                </a:moveTo>
                <a:cubicBezTo>
                  <a:pt x="95250" y="42356"/>
                  <a:pt x="99506" y="38100"/>
                  <a:pt x="104775" y="38100"/>
                </a:cubicBezTo>
                <a:lnTo>
                  <a:pt x="107603" y="38100"/>
                </a:lnTo>
                <a:lnTo>
                  <a:pt x="115520" y="49976"/>
                </a:lnTo>
                <a:cubicBezTo>
                  <a:pt x="119807" y="56406"/>
                  <a:pt x="127218" y="60037"/>
                  <a:pt x="134928" y="59472"/>
                </a:cubicBezTo>
                <a:cubicBezTo>
                  <a:pt x="142637" y="58906"/>
                  <a:pt x="149453" y="54233"/>
                  <a:pt x="152727" y="47238"/>
                </a:cubicBezTo>
                <a:lnTo>
                  <a:pt x="156865" y="38457"/>
                </a:lnTo>
                <a:cubicBezTo>
                  <a:pt x="170527" y="40600"/>
                  <a:pt x="180975" y="52417"/>
                  <a:pt x="180975" y="66675"/>
                </a:cubicBezTo>
                <a:lnTo>
                  <a:pt x="180975" y="133350"/>
                </a:lnTo>
                <a:cubicBezTo>
                  <a:pt x="180975" y="138619"/>
                  <a:pt x="176719" y="142875"/>
                  <a:pt x="171450" y="142875"/>
                </a:cubicBezTo>
                <a:cubicBezTo>
                  <a:pt x="166181" y="142875"/>
                  <a:pt x="161925" y="138619"/>
                  <a:pt x="161925" y="133350"/>
                </a:cubicBezTo>
                <a:lnTo>
                  <a:pt x="161925" y="114300"/>
                </a:lnTo>
                <a:lnTo>
                  <a:pt x="28575" y="114300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cubicBezTo>
                  <a:pt x="13781" y="142875"/>
                  <a:pt x="9525" y="138619"/>
                  <a:pt x="9525" y="133350"/>
                </a:cubicBezTo>
                <a:lnTo>
                  <a:pt x="9525" y="19050"/>
                </a:lnTo>
                <a:cubicBezTo>
                  <a:pt x="9525" y="13781"/>
                  <a:pt x="13781" y="9525"/>
                  <a:pt x="19050" y="9525"/>
                </a:cubicBezTo>
                <a:cubicBezTo>
                  <a:pt x="24319" y="9525"/>
                  <a:pt x="28575" y="13781"/>
                  <a:pt x="28575" y="19050"/>
                </a:cubicBezTo>
                <a:lnTo>
                  <a:pt x="28575" y="85725"/>
                </a:lnTo>
                <a:lnTo>
                  <a:pt x="95250" y="85725"/>
                </a:lnTo>
                <a:lnTo>
                  <a:pt x="95250" y="47625"/>
                </a:lnTo>
                <a:close/>
                <a:moveTo>
                  <a:pt x="42863" y="57150"/>
                </a:moveTo>
                <a:cubicBezTo>
                  <a:pt x="42863" y="46636"/>
                  <a:pt x="51399" y="38100"/>
                  <a:pt x="61912" y="38100"/>
                </a:cubicBezTo>
                <a:cubicBezTo>
                  <a:pt x="72426" y="38100"/>
                  <a:pt x="80962" y="46636"/>
                  <a:pt x="80962" y="57150"/>
                </a:cubicBezTo>
                <a:cubicBezTo>
                  <a:pt x="80962" y="67664"/>
                  <a:pt x="72426" y="76200"/>
                  <a:pt x="61912" y="76200"/>
                </a:cubicBezTo>
                <a:cubicBezTo>
                  <a:pt x="51399" y="76200"/>
                  <a:pt x="42863" y="67664"/>
                  <a:pt x="42863" y="571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1" name="Text 9"/>
          <p:cNvSpPr/>
          <p:nvPr/>
        </p:nvSpPr>
        <p:spPr>
          <a:xfrm>
            <a:off x="925711" y="1828800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Treatment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5711" y="2095500"/>
            <a:ext cx="4857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missed malignant diagnosis may lead to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treatment initiation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allowing cancer to progress to more advanced stages.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719388"/>
            <a:ext cx="5257800" cy="933450"/>
          </a:xfrm>
          <a:custGeom>
            <a:avLst/>
            <a:gdLst/>
            <a:ahLst/>
            <a:cxnLst/>
            <a:rect l="l" t="t" r="r" b="b"/>
            <a:pathLst>
              <a:path w="5257800" h="933450">
                <a:moveTo>
                  <a:pt x="76198" y="0"/>
                </a:moveTo>
                <a:lnTo>
                  <a:pt x="5181602" y="0"/>
                </a:lnTo>
                <a:cubicBezTo>
                  <a:pt x="5223685" y="0"/>
                  <a:pt x="5257800" y="34115"/>
                  <a:pt x="5257800" y="76198"/>
                </a:cubicBezTo>
                <a:lnTo>
                  <a:pt x="5257800" y="857252"/>
                </a:lnTo>
                <a:cubicBezTo>
                  <a:pt x="5257800" y="899335"/>
                  <a:pt x="5223685" y="933450"/>
                  <a:pt x="51816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8717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396" y="8751"/>
                </a:moveTo>
                <a:lnTo>
                  <a:pt x="66675" y="14288"/>
                </a:lnTo>
                <a:cubicBezTo>
                  <a:pt x="60722" y="23217"/>
                  <a:pt x="50721" y="28575"/>
                  <a:pt x="39975" y="28575"/>
                </a:cubicBezTo>
                <a:lnTo>
                  <a:pt x="20241" y="28575"/>
                </a:lnTo>
                <a:cubicBezTo>
                  <a:pt x="9079" y="28575"/>
                  <a:pt x="30" y="37624"/>
                  <a:pt x="30" y="48786"/>
                </a:cubicBezTo>
                <a:cubicBezTo>
                  <a:pt x="30" y="54144"/>
                  <a:pt x="2173" y="59263"/>
                  <a:pt x="5953" y="63044"/>
                </a:cubicBezTo>
                <a:lnTo>
                  <a:pt x="13990" y="71080"/>
                </a:lnTo>
                <a:cubicBezTo>
                  <a:pt x="17264" y="74355"/>
                  <a:pt x="19110" y="78790"/>
                  <a:pt x="19110" y="83433"/>
                </a:cubicBezTo>
                <a:cubicBezTo>
                  <a:pt x="19110" y="88136"/>
                  <a:pt x="17205" y="92631"/>
                  <a:pt x="13841" y="95935"/>
                </a:cubicBezTo>
                <a:lnTo>
                  <a:pt x="9942" y="99745"/>
                </a:lnTo>
                <a:cubicBezTo>
                  <a:pt x="6638" y="102959"/>
                  <a:pt x="4792" y="107394"/>
                  <a:pt x="4792" y="112008"/>
                </a:cubicBezTo>
                <a:cubicBezTo>
                  <a:pt x="4792" y="122962"/>
                  <a:pt x="14942" y="131118"/>
                  <a:pt x="25658" y="128736"/>
                </a:cubicBezTo>
                <a:lnTo>
                  <a:pt x="44202" y="124629"/>
                </a:lnTo>
                <a:cubicBezTo>
                  <a:pt x="46494" y="124123"/>
                  <a:pt x="48875" y="123855"/>
                  <a:pt x="51227" y="123855"/>
                </a:cubicBezTo>
                <a:cubicBezTo>
                  <a:pt x="60990" y="123855"/>
                  <a:pt x="70336" y="128201"/>
                  <a:pt x="76587" y="135701"/>
                </a:cubicBezTo>
                <a:lnTo>
                  <a:pt x="85665" y="146596"/>
                </a:lnTo>
                <a:cubicBezTo>
                  <a:pt x="88761" y="150287"/>
                  <a:pt x="93315" y="152430"/>
                  <a:pt x="98137" y="152430"/>
                </a:cubicBezTo>
                <a:cubicBezTo>
                  <a:pt x="107097" y="152430"/>
                  <a:pt x="114360" y="145167"/>
                  <a:pt x="114360" y="136208"/>
                </a:cubicBezTo>
                <a:lnTo>
                  <a:pt x="114360" y="120968"/>
                </a:lnTo>
                <a:cubicBezTo>
                  <a:pt x="114360" y="108645"/>
                  <a:pt x="121920" y="97601"/>
                  <a:pt x="133410" y="93137"/>
                </a:cubicBezTo>
                <a:lnTo>
                  <a:pt x="140018" y="90577"/>
                </a:lnTo>
                <a:cubicBezTo>
                  <a:pt x="147518" y="87660"/>
                  <a:pt x="152460" y="80427"/>
                  <a:pt x="152460" y="72390"/>
                </a:cubicBezTo>
                <a:cubicBezTo>
                  <a:pt x="152460" y="64532"/>
                  <a:pt x="147727" y="57418"/>
                  <a:pt x="140464" y="54382"/>
                </a:cubicBezTo>
                <a:lnTo>
                  <a:pt x="127695" y="49054"/>
                </a:lnTo>
                <a:cubicBezTo>
                  <a:pt x="117812" y="44916"/>
                  <a:pt x="110550" y="36255"/>
                  <a:pt x="108198" y="25807"/>
                </a:cubicBezTo>
                <a:lnTo>
                  <a:pt x="105847" y="15329"/>
                </a:lnTo>
                <a:cubicBezTo>
                  <a:pt x="103823" y="6370"/>
                  <a:pt x="95875" y="0"/>
                  <a:pt x="86707" y="0"/>
                </a:cubicBezTo>
                <a:cubicBezTo>
                  <a:pt x="80159" y="0"/>
                  <a:pt x="74027" y="3274"/>
                  <a:pt x="70396" y="8751"/>
                </a:cubicBezTo>
                <a:close/>
                <a:moveTo>
                  <a:pt x="47625" y="57150"/>
                </a:moveTo>
                <a:cubicBezTo>
                  <a:pt x="52882" y="57150"/>
                  <a:pt x="57150" y="61418"/>
                  <a:pt x="57150" y="66675"/>
                </a:cubicBezTo>
                <a:cubicBezTo>
                  <a:pt x="57150" y="71932"/>
                  <a:pt x="52882" y="76200"/>
                  <a:pt x="47625" y="76200"/>
                </a:cubicBezTo>
                <a:cubicBezTo>
                  <a:pt x="42368" y="76200"/>
                  <a:pt x="38100" y="71932"/>
                  <a:pt x="38100" y="66675"/>
                </a:cubicBezTo>
                <a:cubicBezTo>
                  <a:pt x="38100" y="61418"/>
                  <a:pt x="42368" y="57150"/>
                  <a:pt x="47625" y="57150"/>
                </a:cubicBezTo>
                <a:close/>
                <a:moveTo>
                  <a:pt x="76200" y="57150"/>
                </a:moveTo>
                <a:cubicBezTo>
                  <a:pt x="76200" y="51893"/>
                  <a:pt x="80468" y="47625"/>
                  <a:pt x="85725" y="47625"/>
                </a:cubicBezTo>
                <a:cubicBezTo>
                  <a:pt x="90982" y="47625"/>
                  <a:pt x="95250" y="51893"/>
                  <a:pt x="95250" y="57150"/>
                </a:cubicBezTo>
                <a:cubicBezTo>
                  <a:pt x="95250" y="62407"/>
                  <a:pt x="90982" y="66675"/>
                  <a:pt x="85725" y="66675"/>
                </a:cubicBezTo>
                <a:cubicBezTo>
                  <a:pt x="80468" y="66675"/>
                  <a:pt x="76200" y="62407"/>
                  <a:pt x="76200" y="57150"/>
                </a:cubicBezTo>
                <a:close/>
                <a:moveTo>
                  <a:pt x="85725" y="85725"/>
                </a:moveTo>
                <a:cubicBezTo>
                  <a:pt x="90982" y="85725"/>
                  <a:pt x="95250" y="89993"/>
                  <a:pt x="95250" y="95250"/>
                </a:cubicBezTo>
                <a:cubicBezTo>
                  <a:pt x="95250" y="100507"/>
                  <a:pt x="90982" y="104775"/>
                  <a:pt x="85725" y="104775"/>
                </a:cubicBezTo>
                <a:cubicBezTo>
                  <a:pt x="80468" y="104775"/>
                  <a:pt x="76200" y="100507"/>
                  <a:pt x="76200" y="95250"/>
                </a:cubicBezTo>
                <a:cubicBezTo>
                  <a:pt x="76200" y="89993"/>
                  <a:pt x="80468" y="85725"/>
                  <a:pt x="85725" y="8572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5" name="Text 13"/>
          <p:cNvSpPr/>
          <p:nvPr/>
        </p:nvSpPr>
        <p:spPr>
          <a:xfrm>
            <a:off x="950863" y="2833688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Disease Progression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863" y="3100388"/>
            <a:ext cx="48291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Early-stage cancer is more treatable. False negatives allow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disease progression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reducing survival rates.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3724275"/>
            <a:ext cx="5257800" cy="933450"/>
          </a:xfrm>
          <a:custGeom>
            <a:avLst/>
            <a:gdLst/>
            <a:ahLst/>
            <a:cxnLst/>
            <a:rect l="l" t="t" r="r" b="b"/>
            <a:pathLst>
              <a:path w="5257800" h="933450">
                <a:moveTo>
                  <a:pt x="76198" y="0"/>
                </a:moveTo>
                <a:lnTo>
                  <a:pt x="5181602" y="0"/>
                </a:lnTo>
                <a:cubicBezTo>
                  <a:pt x="5223685" y="0"/>
                  <a:pt x="5257800" y="34115"/>
                  <a:pt x="5257800" y="76198"/>
                </a:cubicBezTo>
                <a:lnTo>
                  <a:pt x="5257800" y="857252"/>
                </a:lnTo>
                <a:cubicBezTo>
                  <a:pt x="5257800" y="899335"/>
                  <a:pt x="5223685" y="933450"/>
                  <a:pt x="51816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1038" y="38766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2241" y="23813"/>
                </a:moveTo>
                <a:lnTo>
                  <a:pt x="99417" y="23813"/>
                </a:lnTo>
                <a:cubicBezTo>
                  <a:pt x="96232" y="16490"/>
                  <a:pt x="90636" y="10448"/>
                  <a:pt x="83671" y="6668"/>
                </a:cubicBezTo>
                <a:lnTo>
                  <a:pt x="72241" y="23813"/>
                </a:lnTo>
                <a:close/>
                <a:moveTo>
                  <a:pt x="71973" y="2768"/>
                </a:moveTo>
                <a:cubicBezTo>
                  <a:pt x="70247" y="2500"/>
                  <a:pt x="68461" y="2381"/>
                  <a:pt x="66675" y="2381"/>
                </a:cubicBezTo>
                <a:cubicBezTo>
                  <a:pt x="52030" y="2381"/>
                  <a:pt x="39439" y="11192"/>
                  <a:pt x="33933" y="23813"/>
                </a:cubicBezTo>
                <a:lnTo>
                  <a:pt x="57924" y="23813"/>
                </a:lnTo>
                <a:lnTo>
                  <a:pt x="71944" y="2768"/>
                </a:lnTo>
                <a:close/>
                <a:moveTo>
                  <a:pt x="66675" y="73819"/>
                </a:moveTo>
                <a:cubicBezTo>
                  <a:pt x="86410" y="73819"/>
                  <a:pt x="102394" y="57835"/>
                  <a:pt x="102394" y="38100"/>
                </a:cubicBezTo>
                <a:lnTo>
                  <a:pt x="30956" y="38100"/>
                </a:lnTo>
                <a:cubicBezTo>
                  <a:pt x="30956" y="57835"/>
                  <a:pt x="46940" y="73819"/>
                  <a:pt x="66675" y="73819"/>
                </a:cubicBezTo>
                <a:close/>
                <a:moveTo>
                  <a:pt x="29379" y="101739"/>
                </a:moveTo>
                <a:cubicBezTo>
                  <a:pt x="14674" y="110192"/>
                  <a:pt x="4763" y="126057"/>
                  <a:pt x="4763" y="144244"/>
                </a:cubicBezTo>
                <a:cubicBezTo>
                  <a:pt x="4763" y="148739"/>
                  <a:pt x="8424" y="152400"/>
                  <a:pt x="12918" y="152400"/>
                </a:cubicBezTo>
                <a:lnTo>
                  <a:pt x="57864" y="152400"/>
                </a:lnTo>
                <a:lnTo>
                  <a:pt x="29349" y="101739"/>
                </a:lnTo>
                <a:close/>
                <a:moveTo>
                  <a:pt x="42803" y="96470"/>
                </a:moveTo>
                <a:lnTo>
                  <a:pt x="55513" y="119062"/>
                </a:lnTo>
                <a:lnTo>
                  <a:pt x="80962" y="119062"/>
                </a:lnTo>
                <a:cubicBezTo>
                  <a:pt x="94119" y="119062"/>
                  <a:pt x="104775" y="129719"/>
                  <a:pt x="104775" y="142875"/>
                </a:cubicBezTo>
                <a:cubicBezTo>
                  <a:pt x="104775" y="146268"/>
                  <a:pt x="104061" y="149483"/>
                  <a:pt x="102781" y="152400"/>
                </a:cubicBezTo>
                <a:lnTo>
                  <a:pt x="120402" y="152400"/>
                </a:lnTo>
                <a:cubicBezTo>
                  <a:pt x="124897" y="152400"/>
                  <a:pt x="128558" y="148739"/>
                  <a:pt x="128558" y="144244"/>
                </a:cubicBezTo>
                <a:cubicBezTo>
                  <a:pt x="128558" y="117187"/>
                  <a:pt x="106620" y="95250"/>
                  <a:pt x="79564" y="95250"/>
                </a:cubicBezTo>
                <a:lnTo>
                  <a:pt x="53697" y="95250"/>
                </a:lnTo>
                <a:cubicBezTo>
                  <a:pt x="49947" y="95250"/>
                  <a:pt x="46286" y="95667"/>
                  <a:pt x="42773" y="96470"/>
                </a:cubicBezTo>
                <a:close/>
                <a:moveTo>
                  <a:pt x="63550" y="133350"/>
                </a:moveTo>
                <a:lnTo>
                  <a:pt x="74265" y="152400"/>
                </a:lnTo>
                <a:lnTo>
                  <a:pt x="80962" y="152400"/>
                </a:lnTo>
                <a:cubicBezTo>
                  <a:pt x="86231" y="152400"/>
                  <a:pt x="90488" y="148144"/>
                  <a:pt x="90488" y="142875"/>
                </a:cubicBezTo>
                <a:cubicBezTo>
                  <a:pt x="90488" y="137606"/>
                  <a:pt x="86231" y="133350"/>
                  <a:pt x="80962" y="133350"/>
                </a:cubicBezTo>
                <a:lnTo>
                  <a:pt x="63550" y="13335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9" name="Text 17"/>
          <p:cNvSpPr/>
          <p:nvPr/>
        </p:nvSpPr>
        <p:spPr>
          <a:xfrm>
            <a:off x="925711" y="3838575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Outcomes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5711" y="4105275"/>
            <a:ext cx="4857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false negative represents 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patient at risk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Reducing FN from 4 to 2 means 2 more patients receive timely treatment.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9350" y="1181100"/>
            <a:ext cx="5581650" cy="3743325"/>
          </a:xfrm>
          <a:custGeom>
            <a:avLst/>
            <a:gdLst/>
            <a:ahLst/>
            <a:cxnLst/>
            <a:rect l="l" t="t" r="r" b="b"/>
            <a:pathLst>
              <a:path w="5581650" h="3743325">
                <a:moveTo>
                  <a:pt x="0" y="0"/>
                </a:moveTo>
                <a:lnTo>
                  <a:pt x="5505436" y="0"/>
                </a:lnTo>
                <a:cubicBezTo>
                  <a:pt x="5547528" y="0"/>
                  <a:pt x="5581650" y="34122"/>
                  <a:pt x="5581650" y="76214"/>
                </a:cubicBezTo>
                <a:lnTo>
                  <a:pt x="5581650" y="3667111"/>
                </a:lnTo>
                <a:cubicBezTo>
                  <a:pt x="5581650" y="3709203"/>
                  <a:pt x="5547528" y="3743325"/>
                  <a:pt x="5505436" y="3743325"/>
                </a:cubicBez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38A3A5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29350" y="1181100"/>
            <a:ext cx="38100" cy="3743325"/>
          </a:xfrm>
          <a:custGeom>
            <a:avLst/>
            <a:gdLst/>
            <a:ahLst/>
            <a:cxnLst/>
            <a:rect l="l" t="t" r="r" b="b"/>
            <a:pathLst>
              <a:path w="38100" h="3743325">
                <a:moveTo>
                  <a:pt x="0" y="0"/>
                </a:moveTo>
                <a:lnTo>
                  <a:pt x="38100" y="0"/>
                </a:lnTo>
                <a:lnTo>
                  <a:pt x="38100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8425" y="1371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4" name="Text 22"/>
          <p:cNvSpPr/>
          <p:nvPr/>
        </p:nvSpPr>
        <p:spPr>
          <a:xfrm>
            <a:off x="6638925" y="13335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from Phase IV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1714500"/>
            <a:ext cx="5257800" cy="971550"/>
          </a:xfrm>
          <a:custGeom>
            <a:avLst/>
            <a:gdLst/>
            <a:ahLst/>
            <a:cxnLst/>
            <a:rect l="l" t="t" r="r" b="b"/>
            <a:pathLst>
              <a:path w="5257800" h="971550">
                <a:moveTo>
                  <a:pt x="76199" y="0"/>
                </a:moveTo>
                <a:lnTo>
                  <a:pt x="5181601" y="0"/>
                </a:lnTo>
                <a:cubicBezTo>
                  <a:pt x="5223685" y="0"/>
                  <a:pt x="5257800" y="34115"/>
                  <a:pt x="5257800" y="76199"/>
                </a:cubicBezTo>
                <a:lnTo>
                  <a:pt x="5257800" y="895351"/>
                </a:lnTo>
                <a:cubicBezTo>
                  <a:pt x="5257800" y="937435"/>
                  <a:pt x="5223685" y="971550"/>
                  <a:pt x="5181601" y="971550"/>
                </a:cubicBezTo>
                <a:lnTo>
                  <a:pt x="76199" y="971550"/>
                </a:lnTo>
                <a:cubicBezTo>
                  <a:pt x="34115" y="971550"/>
                  <a:pt x="0" y="937435"/>
                  <a:pt x="0" y="895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15100" y="1828800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Adaptive &gt; Uniform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5100" y="2133600"/>
            <a:ext cx="5095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ADASYN's adaptive approach focusing on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hard-to-classify instances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better decision boundaries than SMOTE's uniform sampling.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757488"/>
            <a:ext cx="5257800" cy="971550"/>
          </a:xfrm>
          <a:custGeom>
            <a:avLst/>
            <a:gdLst/>
            <a:ahLst/>
            <a:cxnLst/>
            <a:rect l="l" t="t" r="r" b="b"/>
            <a:pathLst>
              <a:path w="5257800" h="971550">
                <a:moveTo>
                  <a:pt x="76199" y="0"/>
                </a:moveTo>
                <a:lnTo>
                  <a:pt x="5181601" y="0"/>
                </a:lnTo>
                <a:cubicBezTo>
                  <a:pt x="5223685" y="0"/>
                  <a:pt x="5257800" y="34115"/>
                  <a:pt x="5257800" y="76199"/>
                </a:cubicBezTo>
                <a:lnTo>
                  <a:pt x="5257800" y="895351"/>
                </a:lnTo>
                <a:cubicBezTo>
                  <a:pt x="5257800" y="937435"/>
                  <a:pt x="5223685" y="971550"/>
                  <a:pt x="5181601" y="971550"/>
                </a:cubicBezTo>
                <a:lnTo>
                  <a:pt x="76199" y="971550"/>
                </a:lnTo>
                <a:cubicBezTo>
                  <a:pt x="34115" y="971550"/>
                  <a:pt x="0" y="937435"/>
                  <a:pt x="0" y="895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15100" y="2871788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Feature Selection Matters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15100" y="3176588"/>
            <a:ext cx="5095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Removing irrelevant features before oversampling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noise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improves model stability and generalization.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0" y="3800475"/>
            <a:ext cx="5257800" cy="971550"/>
          </a:xfrm>
          <a:custGeom>
            <a:avLst/>
            <a:gdLst/>
            <a:ahLst/>
            <a:cxnLst/>
            <a:rect l="l" t="t" r="r" b="b"/>
            <a:pathLst>
              <a:path w="5257800" h="971550">
                <a:moveTo>
                  <a:pt x="76199" y="0"/>
                </a:moveTo>
                <a:lnTo>
                  <a:pt x="5181601" y="0"/>
                </a:lnTo>
                <a:cubicBezTo>
                  <a:pt x="5223685" y="0"/>
                  <a:pt x="5257800" y="34115"/>
                  <a:pt x="5257800" y="76199"/>
                </a:cubicBezTo>
                <a:lnTo>
                  <a:pt x="5257800" y="895351"/>
                </a:lnTo>
                <a:cubicBezTo>
                  <a:pt x="5257800" y="937435"/>
                  <a:pt x="5223685" y="971550"/>
                  <a:pt x="5181601" y="971550"/>
                </a:cubicBezTo>
                <a:lnTo>
                  <a:pt x="76199" y="971550"/>
                </a:lnTo>
                <a:cubicBezTo>
                  <a:pt x="34115" y="971550"/>
                  <a:pt x="0" y="937435"/>
                  <a:pt x="0" y="895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15100" y="391477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Balanced Improvement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15100" y="4219575"/>
            <a:ext cx="5095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 achieves better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sensitivity-specificity balance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—improving recall without sacrificing precision.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5072063"/>
            <a:ext cx="11430000" cy="1733550"/>
          </a:xfrm>
          <a:custGeom>
            <a:avLst/>
            <a:gdLst/>
            <a:ahLst/>
            <a:cxnLst/>
            <a:rect l="l" t="t" r="r" b="b"/>
            <a:pathLst>
              <a:path w="11430000" h="1733550">
                <a:moveTo>
                  <a:pt x="76207" y="0"/>
                </a:moveTo>
                <a:lnTo>
                  <a:pt x="11353793" y="0"/>
                </a:lnTo>
                <a:cubicBezTo>
                  <a:pt x="11395881" y="0"/>
                  <a:pt x="11430000" y="34119"/>
                  <a:pt x="11430000" y="76207"/>
                </a:cubicBezTo>
                <a:lnTo>
                  <a:pt x="11430000" y="1657343"/>
                </a:lnTo>
                <a:cubicBezTo>
                  <a:pt x="11430000" y="1699431"/>
                  <a:pt x="11395881" y="1733550"/>
                  <a:pt x="1135379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3400" y="5224463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Decision Support Alignment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5605463"/>
            <a:ext cx="3609975" cy="1047750"/>
          </a:xfrm>
          <a:custGeom>
            <a:avLst/>
            <a:gdLst/>
            <a:ahLst/>
            <a:cxnLst/>
            <a:rect l="l" t="t" r="r" b="b"/>
            <a:pathLst>
              <a:path w="3609975" h="1047750">
                <a:moveTo>
                  <a:pt x="76203" y="0"/>
                </a:moveTo>
                <a:lnTo>
                  <a:pt x="3533772" y="0"/>
                </a:lnTo>
                <a:cubicBezTo>
                  <a:pt x="3575830" y="0"/>
                  <a:pt x="3609975" y="34145"/>
                  <a:pt x="3609975" y="76203"/>
                </a:cubicBezTo>
                <a:lnTo>
                  <a:pt x="3609975" y="971547"/>
                </a:lnTo>
                <a:cubicBezTo>
                  <a:pt x="3609975" y="1013605"/>
                  <a:pt x="3575830" y="1047750"/>
                  <a:pt x="3533772" y="1047750"/>
                </a:cubicBezTo>
                <a:lnTo>
                  <a:pt x="76203" y="1047750"/>
                </a:lnTo>
                <a:cubicBezTo>
                  <a:pt x="34145" y="1047750"/>
                  <a:pt x="0" y="1013605"/>
                  <a:pt x="0" y="971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196257" y="5719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8" name="Text 36"/>
          <p:cNvSpPr/>
          <p:nvPr/>
        </p:nvSpPr>
        <p:spPr>
          <a:xfrm>
            <a:off x="609600" y="6081713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Safety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4363" y="634841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Prioritizes detection of malignant cases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92501" y="5605463"/>
            <a:ext cx="3609975" cy="1047750"/>
          </a:xfrm>
          <a:custGeom>
            <a:avLst/>
            <a:gdLst/>
            <a:ahLst/>
            <a:cxnLst/>
            <a:rect l="l" t="t" r="r" b="b"/>
            <a:pathLst>
              <a:path w="3609975" h="1047750">
                <a:moveTo>
                  <a:pt x="76203" y="0"/>
                </a:moveTo>
                <a:lnTo>
                  <a:pt x="3533772" y="0"/>
                </a:lnTo>
                <a:cubicBezTo>
                  <a:pt x="3575830" y="0"/>
                  <a:pt x="3609975" y="34145"/>
                  <a:pt x="3609975" y="76203"/>
                </a:cubicBezTo>
                <a:lnTo>
                  <a:pt x="3609975" y="971547"/>
                </a:lnTo>
                <a:cubicBezTo>
                  <a:pt x="3609975" y="1013605"/>
                  <a:pt x="3575830" y="1047750"/>
                  <a:pt x="3533772" y="1047750"/>
                </a:cubicBezTo>
                <a:lnTo>
                  <a:pt x="76203" y="1047750"/>
                </a:lnTo>
                <a:cubicBezTo>
                  <a:pt x="34145" y="1047750"/>
                  <a:pt x="0" y="1013605"/>
                  <a:pt x="0" y="971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37498" y="571976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859" y="26789"/>
                </a:moveTo>
                <a:cubicBezTo>
                  <a:pt x="17859" y="11999"/>
                  <a:pt x="29859" y="0"/>
                  <a:pt x="44648" y="0"/>
                </a:cubicBezTo>
                <a:lnTo>
                  <a:pt x="71438" y="0"/>
                </a:lnTo>
                <a:cubicBezTo>
                  <a:pt x="81316" y="0"/>
                  <a:pt x="89297" y="7981"/>
                  <a:pt x="89297" y="17859"/>
                </a:cubicBezTo>
                <a:cubicBezTo>
                  <a:pt x="89297" y="27738"/>
                  <a:pt x="81316" y="35719"/>
                  <a:pt x="71438" y="35719"/>
                </a:cubicBezTo>
                <a:lnTo>
                  <a:pt x="53578" y="35719"/>
                </a:lnTo>
                <a:lnTo>
                  <a:pt x="53578" y="107156"/>
                </a:lnTo>
                <a:cubicBezTo>
                  <a:pt x="53578" y="136736"/>
                  <a:pt x="77577" y="160734"/>
                  <a:pt x="107156" y="160734"/>
                </a:cubicBezTo>
                <a:cubicBezTo>
                  <a:pt x="136736" y="160734"/>
                  <a:pt x="160734" y="136736"/>
                  <a:pt x="160734" y="107156"/>
                </a:cubicBezTo>
                <a:lnTo>
                  <a:pt x="160734" y="35719"/>
                </a:lnTo>
                <a:lnTo>
                  <a:pt x="142875" y="35719"/>
                </a:lnTo>
                <a:cubicBezTo>
                  <a:pt x="132997" y="35719"/>
                  <a:pt x="125016" y="27738"/>
                  <a:pt x="125016" y="17859"/>
                </a:cubicBezTo>
                <a:cubicBezTo>
                  <a:pt x="125016" y="7981"/>
                  <a:pt x="132997" y="0"/>
                  <a:pt x="142875" y="0"/>
                </a:cubicBezTo>
                <a:lnTo>
                  <a:pt x="169664" y="0"/>
                </a:lnTo>
                <a:cubicBezTo>
                  <a:pt x="184454" y="0"/>
                  <a:pt x="196453" y="11999"/>
                  <a:pt x="196453" y="26789"/>
                </a:cubicBezTo>
                <a:lnTo>
                  <a:pt x="196453" y="107156"/>
                </a:lnTo>
                <a:cubicBezTo>
                  <a:pt x="196453" y="150354"/>
                  <a:pt x="165757" y="186407"/>
                  <a:pt x="125016" y="194667"/>
                </a:cubicBezTo>
                <a:lnTo>
                  <a:pt x="125016" y="205383"/>
                </a:lnTo>
                <a:cubicBezTo>
                  <a:pt x="125016" y="239930"/>
                  <a:pt x="152977" y="267891"/>
                  <a:pt x="187523" y="267891"/>
                </a:cubicBezTo>
                <a:cubicBezTo>
                  <a:pt x="222070" y="267891"/>
                  <a:pt x="250031" y="239930"/>
                  <a:pt x="250031" y="205383"/>
                </a:cubicBezTo>
                <a:lnTo>
                  <a:pt x="250031" y="157665"/>
                </a:lnTo>
                <a:cubicBezTo>
                  <a:pt x="229214" y="150298"/>
                  <a:pt x="214313" y="130485"/>
                  <a:pt x="214313" y="107156"/>
                </a:cubicBezTo>
                <a:cubicBezTo>
                  <a:pt x="214313" y="77577"/>
                  <a:pt x="238311" y="53578"/>
                  <a:pt x="267891" y="53578"/>
                </a:cubicBezTo>
                <a:cubicBezTo>
                  <a:pt x="297470" y="53578"/>
                  <a:pt x="321469" y="77577"/>
                  <a:pt x="321469" y="107156"/>
                </a:cubicBezTo>
                <a:cubicBezTo>
                  <a:pt x="321469" y="130485"/>
                  <a:pt x="306567" y="150354"/>
                  <a:pt x="285750" y="157665"/>
                </a:cubicBezTo>
                <a:lnTo>
                  <a:pt x="285750" y="205383"/>
                </a:lnTo>
                <a:cubicBezTo>
                  <a:pt x="285750" y="259631"/>
                  <a:pt x="241771" y="303609"/>
                  <a:pt x="187523" y="303609"/>
                </a:cubicBezTo>
                <a:cubicBezTo>
                  <a:pt x="133276" y="303609"/>
                  <a:pt x="89297" y="259631"/>
                  <a:pt x="89297" y="205383"/>
                </a:cubicBezTo>
                <a:lnTo>
                  <a:pt x="89297" y="194667"/>
                </a:lnTo>
                <a:cubicBezTo>
                  <a:pt x="48555" y="186407"/>
                  <a:pt x="17859" y="150354"/>
                  <a:pt x="17859" y="107156"/>
                </a:cubicBezTo>
                <a:lnTo>
                  <a:pt x="17859" y="26789"/>
                </a:lnTo>
                <a:close/>
                <a:moveTo>
                  <a:pt x="267891" y="125016"/>
                </a:moveTo>
                <a:cubicBezTo>
                  <a:pt x="277747" y="125016"/>
                  <a:pt x="285750" y="117013"/>
                  <a:pt x="285750" y="107156"/>
                </a:cubicBezTo>
                <a:cubicBezTo>
                  <a:pt x="285750" y="97299"/>
                  <a:pt x="277747" y="89297"/>
                  <a:pt x="267891" y="89297"/>
                </a:cubicBezTo>
                <a:cubicBezTo>
                  <a:pt x="258034" y="89297"/>
                  <a:pt x="250031" y="97299"/>
                  <a:pt x="250031" y="107156"/>
                </a:cubicBezTo>
                <a:cubicBezTo>
                  <a:pt x="250031" y="117013"/>
                  <a:pt x="258034" y="125016"/>
                  <a:pt x="267891" y="125016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2" name="Text 40"/>
          <p:cNvSpPr/>
          <p:nvPr/>
        </p:nvSpPr>
        <p:spPr>
          <a:xfrm>
            <a:off x="4368701" y="6081713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Diagnostic Aid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73463" y="634841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clinicians, doesn't replace them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51750" y="5605463"/>
            <a:ext cx="3609975" cy="1047750"/>
          </a:xfrm>
          <a:custGeom>
            <a:avLst/>
            <a:gdLst/>
            <a:ahLst/>
            <a:cxnLst/>
            <a:rect l="l" t="t" r="r" b="b"/>
            <a:pathLst>
              <a:path w="3609975" h="1047750">
                <a:moveTo>
                  <a:pt x="76203" y="0"/>
                </a:moveTo>
                <a:lnTo>
                  <a:pt x="3533772" y="0"/>
                </a:lnTo>
                <a:cubicBezTo>
                  <a:pt x="3575830" y="0"/>
                  <a:pt x="3609975" y="34145"/>
                  <a:pt x="3609975" y="76203"/>
                </a:cubicBezTo>
                <a:lnTo>
                  <a:pt x="3609975" y="971547"/>
                </a:lnTo>
                <a:cubicBezTo>
                  <a:pt x="3609975" y="1013605"/>
                  <a:pt x="3575830" y="1047750"/>
                  <a:pt x="3533772" y="1047750"/>
                </a:cubicBezTo>
                <a:lnTo>
                  <a:pt x="76203" y="1047750"/>
                </a:lnTo>
                <a:cubicBezTo>
                  <a:pt x="34145" y="1047750"/>
                  <a:pt x="0" y="1013605"/>
                  <a:pt x="0" y="971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14607" y="5719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6" name="Text 44"/>
          <p:cNvSpPr/>
          <p:nvPr/>
        </p:nvSpPr>
        <p:spPr>
          <a:xfrm>
            <a:off x="8127950" y="6081713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Performance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32713" y="634841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Stable predictions across different cases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es.cloudinary.com/5b8f0dd3e85448f17163f2a585030583db2a2437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0" b="30"/>
          <a:stretch/>
        </p:blipFill>
        <p:spPr>
          <a:xfrm>
            <a:off x="0" y="0"/>
            <a:ext cx="12192000" cy="685971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715"/>
          </a:xfrm>
          <a:custGeom>
            <a:avLst/>
            <a:gdLst/>
            <a:ahLst/>
            <a:cxnLst/>
            <a:rect l="l" t="t" r="r" b="b"/>
            <a:pathLst>
              <a:path w="12192000" h="6859715">
                <a:moveTo>
                  <a:pt x="0" y="0"/>
                </a:moveTo>
                <a:lnTo>
                  <a:pt x="12192000" y="0"/>
                </a:lnTo>
                <a:lnTo>
                  <a:pt x="12192000" y="6859715"/>
                </a:lnTo>
                <a:lnTo>
                  <a:pt x="0" y="685971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D8C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65851" y="457314"/>
            <a:ext cx="585362" cy="36585"/>
          </a:xfrm>
          <a:custGeom>
            <a:avLst/>
            <a:gdLst/>
            <a:ahLst/>
            <a:cxnLst/>
            <a:rect l="l" t="t" r="r" b="b"/>
            <a:pathLst>
              <a:path w="585362" h="36585">
                <a:moveTo>
                  <a:pt x="0" y="0"/>
                </a:moveTo>
                <a:lnTo>
                  <a:pt x="585362" y="0"/>
                </a:lnTo>
                <a:lnTo>
                  <a:pt x="585362" y="36585"/>
                </a:lnTo>
                <a:lnTo>
                  <a:pt x="0" y="36585"/>
                </a:lnTo>
                <a:lnTo>
                  <a:pt x="0" y="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5" name="Text 2"/>
          <p:cNvSpPr/>
          <p:nvPr/>
        </p:nvSpPr>
        <p:spPr>
          <a:xfrm>
            <a:off x="1060969" y="365851"/>
            <a:ext cx="292681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spc="115" kern="0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 Conclusions &amp; Future 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851" y="731703"/>
            <a:ext cx="11679808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7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Evolution &amp; 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0425" y="1394809"/>
            <a:ext cx="3685953" cy="1655478"/>
          </a:xfrm>
          <a:custGeom>
            <a:avLst/>
            <a:gdLst/>
            <a:ahLst/>
            <a:cxnLst/>
            <a:rect l="l" t="t" r="r" b="b"/>
            <a:pathLst>
              <a:path w="3685953" h="1655478">
                <a:moveTo>
                  <a:pt x="73172" y="0"/>
                </a:moveTo>
                <a:lnTo>
                  <a:pt x="3612781" y="0"/>
                </a:lnTo>
                <a:cubicBezTo>
                  <a:pt x="3653193" y="0"/>
                  <a:pt x="3685953" y="32760"/>
                  <a:pt x="3685953" y="73172"/>
                </a:cubicBezTo>
                <a:lnTo>
                  <a:pt x="3685953" y="1582306"/>
                </a:lnTo>
                <a:cubicBezTo>
                  <a:pt x="3685953" y="1622718"/>
                  <a:pt x="3653193" y="1655478"/>
                  <a:pt x="3612781" y="1655478"/>
                </a:cubicBezTo>
                <a:lnTo>
                  <a:pt x="73172" y="1655478"/>
                </a:lnTo>
                <a:cubicBezTo>
                  <a:pt x="32760" y="1655478"/>
                  <a:pt x="0" y="1622718"/>
                  <a:pt x="0" y="1582306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923" y="1582308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23414" y="1673770"/>
            <a:ext cx="20121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06701" y="1673770"/>
            <a:ext cx="71341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7923" y="2131085"/>
            <a:ext cx="3384126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Established research foundation and identified the need for a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combining data-level and algorithm-level techniques.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52452" y="1394809"/>
            <a:ext cx="3685953" cy="1655478"/>
          </a:xfrm>
          <a:custGeom>
            <a:avLst/>
            <a:gdLst/>
            <a:ahLst/>
            <a:cxnLst/>
            <a:rect l="l" t="t" r="r" b="b"/>
            <a:pathLst>
              <a:path w="3685953" h="1655478">
                <a:moveTo>
                  <a:pt x="73172" y="0"/>
                </a:moveTo>
                <a:lnTo>
                  <a:pt x="3612781" y="0"/>
                </a:lnTo>
                <a:cubicBezTo>
                  <a:pt x="3653193" y="0"/>
                  <a:pt x="3685953" y="32760"/>
                  <a:pt x="3685953" y="73172"/>
                </a:cubicBezTo>
                <a:lnTo>
                  <a:pt x="3685953" y="1582306"/>
                </a:lnTo>
                <a:cubicBezTo>
                  <a:pt x="3685953" y="1622718"/>
                  <a:pt x="3653193" y="1655478"/>
                  <a:pt x="3612781" y="1655478"/>
                </a:cubicBezTo>
                <a:lnTo>
                  <a:pt x="73172" y="1655478"/>
                </a:lnTo>
                <a:cubicBezTo>
                  <a:pt x="32760" y="1655478"/>
                  <a:pt x="0" y="1622718"/>
                  <a:pt x="0" y="1582306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9950" y="1582308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78431" y="1673770"/>
            <a:ext cx="25609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4A6D8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III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88728" y="1673770"/>
            <a:ext cx="75914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III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39950" y="2131085"/>
            <a:ext cx="3384126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Implemented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SMOTE + Cost-Sensitive XGBoost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achieving improved recall but with synthetic noise and stability issues.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39052" y="1399382"/>
            <a:ext cx="3676807" cy="1646332"/>
          </a:xfrm>
          <a:custGeom>
            <a:avLst/>
            <a:gdLst/>
            <a:ahLst/>
            <a:cxnLst/>
            <a:rect l="l" t="t" r="r" b="b"/>
            <a:pathLst>
              <a:path w="3676807" h="1646332">
                <a:moveTo>
                  <a:pt x="73163" y="0"/>
                </a:moveTo>
                <a:lnTo>
                  <a:pt x="3603644" y="0"/>
                </a:lnTo>
                <a:cubicBezTo>
                  <a:pt x="3644051" y="0"/>
                  <a:pt x="3676807" y="32756"/>
                  <a:pt x="3676807" y="73163"/>
                </a:cubicBezTo>
                <a:lnTo>
                  <a:pt x="3676807" y="1573169"/>
                </a:lnTo>
                <a:cubicBezTo>
                  <a:pt x="3676807" y="1613575"/>
                  <a:pt x="3644051" y="1646332"/>
                  <a:pt x="3603644" y="1646332"/>
                </a:cubicBezTo>
                <a:lnTo>
                  <a:pt x="73163" y="1646332"/>
                </a:lnTo>
                <a:cubicBezTo>
                  <a:pt x="32756" y="1646332"/>
                  <a:pt x="0" y="1613575"/>
                  <a:pt x="0" y="1573169"/>
                </a:cubicBezTo>
                <a:lnTo>
                  <a:pt x="0" y="73163"/>
                </a:lnTo>
                <a:cubicBezTo>
                  <a:pt x="0" y="32783"/>
                  <a:pt x="32783" y="0"/>
                  <a:pt x="73163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25400">
            <a:solidFill>
              <a:srgbClr val="38A3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31124" y="1591454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219511" y="0"/>
                </a:moveTo>
                <a:lnTo>
                  <a:pt x="219511" y="0"/>
                </a:lnTo>
                <a:cubicBezTo>
                  <a:pt x="340662" y="0"/>
                  <a:pt x="439022" y="98360"/>
                  <a:pt x="439022" y="219511"/>
                </a:cubicBezTo>
                <a:lnTo>
                  <a:pt x="439022" y="219511"/>
                </a:lnTo>
                <a:cubicBezTo>
                  <a:pt x="439022" y="340662"/>
                  <a:pt x="340662" y="439022"/>
                  <a:pt x="219511" y="439022"/>
                </a:cubicBezTo>
                <a:lnTo>
                  <a:pt x="219511" y="439022"/>
                </a:lnTo>
                <a:cubicBezTo>
                  <a:pt x="98360" y="439022"/>
                  <a:pt x="0" y="340662"/>
                  <a:pt x="0" y="219511"/>
                </a:cubicBezTo>
                <a:lnTo>
                  <a:pt x="0" y="219511"/>
                </a:lnTo>
                <a:cubicBezTo>
                  <a:pt x="0" y="98360"/>
                  <a:pt x="98360" y="0"/>
                  <a:pt x="219511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477464" y="1682917"/>
            <a:ext cx="237803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38A3A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IV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79901" y="1682917"/>
            <a:ext cx="786581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IV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1124" y="2140231"/>
            <a:ext cx="3365833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framework with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 + ADASYN + Cost-XGBoost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reducing false negatives by 50% and improving stability.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0425" y="3278944"/>
            <a:ext cx="5615820" cy="2533521"/>
          </a:xfrm>
          <a:custGeom>
            <a:avLst/>
            <a:gdLst/>
            <a:ahLst/>
            <a:cxnLst/>
            <a:rect l="l" t="t" r="r" b="b"/>
            <a:pathLst>
              <a:path w="5615820" h="2533521">
                <a:moveTo>
                  <a:pt x="73168" y="0"/>
                </a:moveTo>
                <a:lnTo>
                  <a:pt x="5542652" y="0"/>
                </a:lnTo>
                <a:cubicBezTo>
                  <a:pt x="5583061" y="0"/>
                  <a:pt x="5615820" y="32758"/>
                  <a:pt x="5615820" y="73168"/>
                </a:cubicBezTo>
                <a:lnTo>
                  <a:pt x="5615820" y="2460353"/>
                </a:lnTo>
                <a:cubicBezTo>
                  <a:pt x="5615820" y="2500763"/>
                  <a:pt x="5583061" y="2533521"/>
                  <a:pt x="5542652" y="2533521"/>
                </a:cubicBezTo>
                <a:lnTo>
                  <a:pt x="73168" y="2533521"/>
                </a:lnTo>
                <a:cubicBezTo>
                  <a:pt x="32758" y="2533521"/>
                  <a:pt x="0" y="2500763"/>
                  <a:pt x="0" y="2460353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655" y="3503028"/>
            <a:ext cx="137194" cy="182926"/>
          </a:xfrm>
          <a:custGeom>
            <a:avLst/>
            <a:gdLst/>
            <a:ahLst/>
            <a:cxnLst/>
            <a:rect l="l" t="t" r="r" b="b"/>
            <a:pathLst>
              <a:path w="137194" h="182926">
                <a:moveTo>
                  <a:pt x="89283" y="23866"/>
                </a:moveTo>
                <a:cubicBezTo>
                  <a:pt x="92999" y="18757"/>
                  <a:pt x="91856" y="11611"/>
                  <a:pt x="86747" y="7896"/>
                </a:cubicBezTo>
                <a:cubicBezTo>
                  <a:pt x="81638" y="4180"/>
                  <a:pt x="74492" y="5323"/>
                  <a:pt x="70777" y="10432"/>
                </a:cubicBezTo>
                <a:lnTo>
                  <a:pt x="32905" y="62488"/>
                </a:lnTo>
                <a:lnTo>
                  <a:pt x="19507" y="49090"/>
                </a:lnTo>
                <a:cubicBezTo>
                  <a:pt x="15041" y="44624"/>
                  <a:pt x="7789" y="44624"/>
                  <a:pt x="3323" y="49090"/>
                </a:cubicBezTo>
                <a:cubicBezTo>
                  <a:pt x="-1143" y="53556"/>
                  <a:pt x="-1143" y="60809"/>
                  <a:pt x="3323" y="65274"/>
                </a:cubicBezTo>
                <a:lnTo>
                  <a:pt x="26188" y="88140"/>
                </a:lnTo>
                <a:cubicBezTo>
                  <a:pt x="28546" y="90498"/>
                  <a:pt x="31833" y="91713"/>
                  <a:pt x="35156" y="91463"/>
                </a:cubicBezTo>
                <a:cubicBezTo>
                  <a:pt x="38479" y="91213"/>
                  <a:pt x="41551" y="89498"/>
                  <a:pt x="43516" y="86783"/>
                </a:cubicBezTo>
                <a:lnTo>
                  <a:pt x="89248" y="23902"/>
                </a:lnTo>
                <a:close/>
                <a:moveTo>
                  <a:pt x="135015" y="72456"/>
                </a:moveTo>
                <a:cubicBezTo>
                  <a:pt x="138731" y="67347"/>
                  <a:pt x="137587" y="60201"/>
                  <a:pt x="132478" y="56485"/>
                </a:cubicBezTo>
                <a:cubicBezTo>
                  <a:pt x="127369" y="52770"/>
                  <a:pt x="120224" y="53913"/>
                  <a:pt x="116508" y="59022"/>
                </a:cubicBezTo>
                <a:lnTo>
                  <a:pt x="55771" y="142518"/>
                </a:lnTo>
                <a:lnTo>
                  <a:pt x="30940" y="117687"/>
                </a:lnTo>
                <a:cubicBezTo>
                  <a:pt x="26474" y="113221"/>
                  <a:pt x="19221" y="113221"/>
                  <a:pt x="14756" y="117687"/>
                </a:cubicBezTo>
                <a:cubicBezTo>
                  <a:pt x="10290" y="122153"/>
                  <a:pt x="10290" y="129406"/>
                  <a:pt x="14756" y="133872"/>
                </a:cubicBezTo>
                <a:lnTo>
                  <a:pt x="49054" y="168170"/>
                </a:lnTo>
                <a:cubicBezTo>
                  <a:pt x="51412" y="170528"/>
                  <a:pt x="54699" y="171743"/>
                  <a:pt x="58022" y="171493"/>
                </a:cubicBezTo>
                <a:cubicBezTo>
                  <a:pt x="61344" y="171243"/>
                  <a:pt x="64417" y="169528"/>
                  <a:pt x="66382" y="166813"/>
                </a:cubicBezTo>
                <a:lnTo>
                  <a:pt x="134979" y="72491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4" name="Text 21"/>
          <p:cNvSpPr/>
          <p:nvPr/>
        </p:nvSpPr>
        <p:spPr>
          <a:xfrm>
            <a:off x="786581" y="3466443"/>
            <a:ext cx="510362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Conclusions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7923" y="3868879"/>
            <a:ext cx="5313992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Hybrid approaches outperform individual techniques in imbalanced medical diagnosis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7923" y="4381071"/>
            <a:ext cx="5313992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ADASYN's adaptive sampling reduces synthetic noise compared to uniform SMOTE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7923" y="4893263"/>
            <a:ext cx="5313992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Feature selection before oversampling improves model stability and generalization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57923" y="5405455"/>
            <a:ext cx="53139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38A3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Cost-sensitive learning effectively prioritizes minority class detection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11758" y="3278944"/>
            <a:ext cx="5615820" cy="2533521"/>
          </a:xfrm>
          <a:custGeom>
            <a:avLst/>
            <a:gdLst/>
            <a:ahLst/>
            <a:cxnLst/>
            <a:rect l="l" t="t" r="r" b="b"/>
            <a:pathLst>
              <a:path w="5615820" h="2533521">
                <a:moveTo>
                  <a:pt x="73168" y="0"/>
                </a:moveTo>
                <a:lnTo>
                  <a:pt x="5542652" y="0"/>
                </a:lnTo>
                <a:cubicBezTo>
                  <a:pt x="5583061" y="0"/>
                  <a:pt x="5615820" y="32758"/>
                  <a:pt x="5615820" y="73168"/>
                </a:cubicBezTo>
                <a:lnTo>
                  <a:pt x="5615820" y="2460353"/>
                </a:lnTo>
                <a:cubicBezTo>
                  <a:pt x="5615820" y="2500763"/>
                  <a:pt x="5583061" y="2533521"/>
                  <a:pt x="5542652" y="2533521"/>
                </a:cubicBezTo>
                <a:lnTo>
                  <a:pt x="73168" y="2533521"/>
                </a:lnTo>
                <a:cubicBezTo>
                  <a:pt x="32758" y="2533521"/>
                  <a:pt x="0" y="2500763"/>
                  <a:pt x="0" y="2460353"/>
                </a:cubicBezTo>
                <a:lnTo>
                  <a:pt x="0" y="73168"/>
                </a:lnTo>
                <a:cubicBezTo>
                  <a:pt x="0" y="32786"/>
                  <a:pt x="32786" y="0"/>
                  <a:pt x="7316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22122" y="3503028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45731" y="114329"/>
                </a:moveTo>
                <a:lnTo>
                  <a:pt x="8753" y="114329"/>
                </a:lnTo>
                <a:cubicBezTo>
                  <a:pt x="-143" y="114329"/>
                  <a:pt x="-5609" y="104646"/>
                  <a:pt x="-1036" y="97001"/>
                </a:cubicBezTo>
                <a:lnTo>
                  <a:pt x="17864" y="65489"/>
                </a:lnTo>
                <a:cubicBezTo>
                  <a:pt x="20972" y="60308"/>
                  <a:pt x="26546" y="57164"/>
                  <a:pt x="32584" y="57164"/>
                </a:cubicBezTo>
                <a:lnTo>
                  <a:pt x="66525" y="57164"/>
                </a:lnTo>
                <a:cubicBezTo>
                  <a:pt x="93714" y="11111"/>
                  <a:pt x="134265" y="8789"/>
                  <a:pt x="161382" y="12755"/>
                </a:cubicBezTo>
                <a:cubicBezTo>
                  <a:pt x="165955" y="13434"/>
                  <a:pt x="169528" y="17006"/>
                  <a:pt x="170171" y="21544"/>
                </a:cubicBezTo>
                <a:cubicBezTo>
                  <a:pt x="174137" y="48661"/>
                  <a:pt x="171814" y="89212"/>
                  <a:pt x="125761" y="116401"/>
                </a:cubicBezTo>
                <a:lnTo>
                  <a:pt x="125761" y="150342"/>
                </a:lnTo>
                <a:cubicBezTo>
                  <a:pt x="125761" y="156380"/>
                  <a:pt x="122617" y="161954"/>
                  <a:pt x="117437" y="165062"/>
                </a:cubicBezTo>
                <a:lnTo>
                  <a:pt x="85925" y="183962"/>
                </a:lnTo>
                <a:cubicBezTo>
                  <a:pt x="78315" y="188535"/>
                  <a:pt x="68597" y="183033"/>
                  <a:pt x="68597" y="174172"/>
                </a:cubicBezTo>
                <a:lnTo>
                  <a:pt x="68597" y="137194"/>
                </a:lnTo>
                <a:cubicBezTo>
                  <a:pt x="68597" y="124582"/>
                  <a:pt x="58343" y="114329"/>
                  <a:pt x="45731" y="114329"/>
                </a:cubicBezTo>
                <a:lnTo>
                  <a:pt x="45696" y="114329"/>
                </a:lnTo>
                <a:close/>
                <a:moveTo>
                  <a:pt x="142911" y="57164"/>
                </a:moveTo>
                <a:cubicBezTo>
                  <a:pt x="142911" y="47699"/>
                  <a:pt x="135226" y="40015"/>
                  <a:pt x="125761" y="40015"/>
                </a:cubicBezTo>
                <a:cubicBezTo>
                  <a:pt x="116296" y="40015"/>
                  <a:pt x="108612" y="47699"/>
                  <a:pt x="108612" y="57164"/>
                </a:cubicBezTo>
                <a:cubicBezTo>
                  <a:pt x="108612" y="66629"/>
                  <a:pt x="116296" y="74314"/>
                  <a:pt x="125761" y="74314"/>
                </a:cubicBezTo>
                <a:cubicBezTo>
                  <a:pt x="135226" y="74314"/>
                  <a:pt x="142911" y="66629"/>
                  <a:pt x="142911" y="57164"/>
                </a:cubicBezTo>
                <a:close/>
              </a:path>
            </a:pathLst>
          </a:custGeom>
          <a:solidFill>
            <a:srgbClr val="4A6D8C"/>
          </a:solidFill>
          <a:ln/>
        </p:spPr>
      </p:sp>
      <p:sp>
        <p:nvSpPr>
          <p:cNvPr id="31" name="Text 28"/>
          <p:cNvSpPr/>
          <p:nvPr/>
        </p:nvSpPr>
        <p:spPr>
          <a:xfrm>
            <a:off x="6627914" y="3466443"/>
            <a:ext cx="510362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99257" y="3868879"/>
            <a:ext cx="53139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Advanced feature selection (RFE, genetic algorithms)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99257" y="4161560"/>
            <a:ext cx="53139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Hyperparameter optimization (Bayesian optimization)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99257" y="4454242"/>
            <a:ext cx="53139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Deep learning models (CNNs for medical imaging)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99257" y="4746923"/>
            <a:ext cx="53139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4A6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>
              <a:lnSpc>
                <a:spcPct val="130000"/>
              </a:lnSpc>
            </a:pPr>
            <a:r>
              <a:rPr lang="en-US" sz="1152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Evaluation on larger, more diverse datasets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70425" y="6041122"/>
            <a:ext cx="11451151" cy="814020"/>
          </a:xfrm>
          <a:custGeom>
            <a:avLst/>
            <a:gdLst/>
            <a:ahLst/>
            <a:cxnLst/>
            <a:rect l="l" t="t" r="r" b="b"/>
            <a:pathLst>
              <a:path w="11451151" h="814020">
                <a:moveTo>
                  <a:pt x="73172" y="0"/>
                </a:moveTo>
                <a:lnTo>
                  <a:pt x="11377979" y="0"/>
                </a:lnTo>
                <a:cubicBezTo>
                  <a:pt x="11418390" y="0"/>
                  <a:pt x="11451151" y="32760"/>
                  <a:pt x="11451151" y="73172"/>
                </a:cubicBezTo>
                <a:lnTo>
                  <a:pt x="11451151" y="740847"/>
                </a:lnTo>
                <a:cubicBezTo>
                  <a:pt x="11451151" y="781259"/>
                  <a:pt x="11418390" y="814020"/>
                  <a:pt x="11377979" y="814020"/>
                </a:cubicBezTo>
                <a:lnTo>
                  <a:pt x="73172" y="814020"/>
                </a:lnTo>
                <a:cubicBezTo>
                  <a:pt x="32760" y="814020"/>
                  <a:pt x="0" y="781259"/>
                  <a:pt x="0" y="740847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38A3A5">
              <a:alpha val="20000"/>
            </a:srgbClr>
          </a:solidFill>
          <a:ln w="12700">
            <a:solidFill>
              <a:srgbClr val="38A3A5">
                <a:alpha val="5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4576" y="6219475"/>
            <a:ext cx="160060" cy="182926"/>
          </a:xfrm>
          <a:custGeom>
            <a:avLst/>
            <a:gdLst/>
            <a:ahLst/>
            <a:cxnLst/>
            <a:rect l="l" t="t" r="r" b="b"/>
            <a:pathLst>
              <a:path w="160060" h="182926">
                <a:moveTo>
                  <a:pt x="0" y="77172"/>
                </a:moveTo>
                <a:cubicBezTo>
                  <a:pt x="0" y="53484"/>
                  <a:pt x="19186" y="34299"/>
                  <a:pt x="42873" y="34299"/>
                </a:cubicBezTo>
                <a:lnTo>
                  <a:pt x="45731" y="34299"/>
                </a:lnTo>
                <a:cubicBezTo>
                  <a:pt x="52055" y="34299"/>
                  <a:pt x="57164" y="39408"/>
                  <a:pt x="57164" y="45731"/>
                </a:cubicBezTo>
                <a:cubicBezTo>
                  <a:pt x="57164" y="52055"/>
                  <a:pt x="52055" y="57164"/>
                  <a:pt x="45731" y="57164"/>
                </a:cubicBezTo>
                <a:lnTo>
                  <a:pt x="42873" y="57164"/>
                </a:lnTo>
                <a:cubicBezTo>
                  <a:pt x="31833" y="57164"/>
                  <a:pt x="22866" y="66132"/>
                  <a:pt x="22866" y="77172"/>
                </a:cubicBezTo>
                <a:lnTo>
                  <a:pt x="22866" y="80030"/>
                </a:lnTo>
                <a:lnTo>
                  <a:pt x="45731" y="80030"/>
                </a:lnTo>
                <a:cubicBezTo>
                  <a:pt x="58343" y="80030"/>
                  <a:pt x="68597" y="90284"/>
                  <a:pt x="68597" y="102896"/>
                </a:cubicBezTo>
                <a:lnTo>
                  <a:pt x="68597" y="125761"/>
                </a:lnTo>
                <a:cubicBezTo>
                  <a:pt x="68597" y="138373"/>
                  <a:pt x="58343" y="148627"/>
                  <a:pt x="45731" y="148627"/>
                </a:cubicBezTo>
                <a:lnTo>
                  <a:pt x="22866" y="148627"/>
                </a:lnTo>
                <a:cubicBezTo>
                  <a:pt x="10254" y="148627"/>
                  <a:pt x="0" y="138373"/>
                  <a:pt x="0" y="125761"/>
                </a:cubicBezTo>
                <a:lnTo>
                  <a:pt x="0" y="77172"/>
                </a:lnTo>
                <a:close/>
                <a:moveTo>
                  <a:pt x="91463" y="77172"/>
                </a:moveTo>
                <a:cubicBezTo>
                  <a:pt x="91463" y="53484"/>
                  <a:pt x="110649" y="34299"/>
                  <a:pt x="134336" y="34299"/>
                </a:cubicBezTo>
                <a:lnTo>
                  <a:pt x="137194" y="34299"/>
                </a:lnTo>
                <a:cubicBezTo>
                  <a:pt x="143518" y="34299"/>
                  <a:pt x="148627" y="39408"/>
                  <a:pt x="148627" y="45731"/>
                </a:cubicBezTo>
                <a:cubicBezTo>
                  <a:pt x="148627" y="52055"/>
                  <a:pt x="143518" y="57164"/>
                  <a:pt x="137194" y="57164"/>
                </a:cubicBezTo>
                <a:lnTo>
                  <a:pt x="134336" y="57164"/>
                </a:lnTo>
                <a:cubicBezTo>
                  <a:pt x="123296" y="57164"/>
                  <a:pt x="114329" y="66132"/>
                  <a:pt x="114329" y="77172"/>
                </a:cubicBezTo>
                <a:lnTo>
                  <a:pt x="114329" y="80030"/>
                </a:lnTo>
                <a:lnTo>
                  <a:pt x="137194" y="80030"/>
                </a:lnTo>
                <a:cubicBezTo>
                  <a:pt x="149806" y="80030"/>
                  <a:pt x="160060" y="90284"/>
                  <a:pt x="160060" y="102896"/>
                </a:cubicBezTo>
                <a:lnTo>
                  <a:pt x="160060" y="125761"/>
                </a:lnTo>
                <a:cubicBezTo>
                  <a:pt x="160060" y="138373"/>
                  <a:pt x="149806" y="148627"/>
                  <a:pt x="137194" y="148627"/>
                </a:cubicBezTo>
                <a:lnTo>
                  <a:pt x="114329" y="148627"/>
                </a:lnTo>
                <a:cubicBezTo>
                  <a:pt x="101717" y="148627"/>
                  <a:pt x="91463" y="138373"/>
                  <a:pt x="91463" y="125761"/>
                </a:cubicBezTo>
                <a:lnTo>
                  <a:pt x="91463" y="77172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8" name="Text 35"/>
          <p:cNvSpPr/>
          <p:nvPr/>
        </p:nvSpPr>
        <p:spPr>
          <a:xfrm>
            <a:off x="756960" y="6192036"/>
            <a:ext cx="10959433" cy="51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Phase IV framework successfully addresses Phase III limitations, providing a more reliable and clinically applicable solution for breast cancer diagnosis.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False Negatives in Breast Cancer Diagnosis</dc:title>
  <dc:subject>Reducing False Negatives in Breast Cancer Diagnosis</dc:subject>
  <dc:creator>Kimi</dc:creator>
  <cp:lastModifiedBy>Kimi</cp:lastModifiedBy>
  <cp:revision>1</cp:revision>
  <dcterms:created xsi:type="dcterms:W3CDTF">2026-02-10T12:54:17Z</dcterms:created>
  <dcterms:modified xsi:type="dcterms:W3CDTF">2026-02-10T12:54:17Z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{"Label":"Reducing False Negatives in Breast Cancer Diagnosis","ContentProducer":"001191110108MACG2KBH8F10000","ProduceID":"19c479b5-6262-8f35-8000-0000892edf8b","ReservedCode1":"","ContentPropagator":"001191110108MACG2KBH8F20000","PropagateID":"19c479b5-6262-8f35-8000-0000892edf8b","ReservedCode2":""}</vt:lpwstr>
  </property>
</Properties>
</file>